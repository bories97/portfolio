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83" r:id="rId2"/>
    <p:sldId id="272" r:id="rId3"/>
    <p:sldId id="273" r:id="rId4"/>
    <p:sldId id="277" r:id="rId5"/>
    <p:sldId id="278" r:id="rId6"/>
    <p:sldId id="262" r:id="rId7"/>
    <p:sldId id="270" r:id="rId8"/>
    <p:sldId id="265" r:id="rId9"/>
    <p:sldId id="274" r:id="rId10"/>
    <p:sldId id="280" r:id="rId11"/>
    <p:sldId id="281" r:id="rId12"/>
    <p:sldId id="276" r:id="rId13"/>
    <p:sldId id="269" r:id="rId14"/>
  </p:sldIdLst>
  <p:sldSz cx="18288000" cy="10287000"/>
  <p:notesSz cx="6858000" cy="9144000"/>
  <p:embeddedFontLst>
    <p:embeddedFont>
      <p:font typeface="HY견고딕" panose="02030600000101010101" pitchFamily="18" charset="-127"/>
      <p:regular r:id="rId16"/>
    </p:embeddedFont>
    <p:embeddedFont>
      <p:font typeface="KoPubWorld돋움체 Bold" panose="00000800000000000000" pitchFamily="2" charset="-127"/>
      <p:bold r:id="rId17"/>
    </p:embeddedFont>
    <p:embeddedFont>
      <p:font typeface="KoPubWorld돋움체 Light" panose="00000300000000000000" pitchFamily="2" charset="-12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3D"/>
    <a:srgbClr val="FEFBF6"/>
    <a:srgbClr val="F8EEDB"/>
    <a:srgbClr val="FDBC03"/>
    <a:srgbClr val="FFC94A"/>
    <a:srgbClr val="2B3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8" autoAdjust="0"/>
    <p:restoredTop sz="94622" autoAdjust="0"/>
  </p:normalViewPr>
  <p:slideViewPr>
    <p:cSldViewPr>
      <p:cViewPr>
        <p:scale>
          <a:sx n="66" d="100"/>
          <a:sy n="66" d="100"/>
        </p:scale>
        <p:origin x="1968" y="4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용 손" userId="10dd8c8d2cf67975" providerId="LiveId" clId="{77925E49-64FF-4BFA-98E3-809C06BB7BCF}"/>
    <pc:docChg chg="undo custSel modSld">
      <pc:chgData name="주용 손" userId="10dd8c8d2cf67975" providerId="LiveId" clId="{77925E49-64FF-4BFA-98E3-809C06BB7BCF}" dt="2026-06-26T09:46:38.721" v="17" actId="1076"/>
      <pc:docMkLst>
        <pc:docMk/>
      </pc:docMkLst>
      <pc:sldChg chg="modSp mod">
        <pc:chgData name="주용 손" userId="10dd8c8d2cf67975" providerId="LiveId" clId="{77925E49-64FF-4BFA-98E3-809C06BB7BCF}" dt="2026-06-26T09:42:33.969" v="3" actId="14100"/>
        <pc:sldMkLst>
          <pc:docMk/>
          <pc:sldMk cId="0" sldId="256"/>
        </pc:sldMkLst>
        <pc:spChg chg="mod">
          <ac:chgData name="주용 손" userId="10dd8c8d2cf67975" providerId="LiveId" clId="{77925E49-64FF-4BFA-98E3-809C06BB7BCF}" dt="2026-06-26T09:42:33.969" v="3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주용 손" userId="10dd8c8d2cf67975" providerId="LiveId" clId="{77925E49-64FF-4BFA-98E3-809C06BB7BCF}" dt="2026-06-26T09:44:33.158" v="8" actId="1076"/>
        <pc:sldMkLst>
          <pc:docMk/>
          <pc:sldMk cId="0" sldId="273"/>
        </pc:sldMkLst>
        <pc:spChg chg="mod">
          <ac:chgData name="주용 손" userId="10dd8c8d2cf67975" providerId="LiveId" clId="{77925E49-64FF-4BFA-98E3-809C06BB7BCF}" dt="2026-06-26T09:44:33.158" v="8" actId="1076"/>
          <ac:spMkLst>
            <pc:docMk/>
            <pc:sldMk cId="0" sldId="273"/>
            <ac:spMk id="56" creationId="{00000000-0000-0000-0000-000000000000}"/>
          </ac:spMkLst>
        </pc:spChg>
      </pc:sldChg>
      <pc:sldChg chg="modSp mod">
        <pc:chgData name="주용 손" userId="10dd8c8d2cf67975" providerId="LiveId" clId="{77925E49-64FF-4BFA-98E3-809C06BB7BCF}" dt="2026-06-26T09:45:51.827" v="10" actId="14100"/>
        <pc:sldMkLst>
          <pc:docMk/>
          <pc:sldMk cId="2593395000" sldId="275"/>
        </pc:sldMkLst>
        <pc:spChg chg="mod">
          <ac:chgData name="주용 손" userId="10dd8c8d2cf67975" providerId="LiveId" clId="{77925E49-64FF-4BFA-98E3-809C06BB7BCF}" dt="2026-06-26T09:45:47.092" v="9" actId="14100"/>
          <ac:spMkLst>
            <pc:docMk/>
            <pc:sldMk cId="2593395000" sldId="275"/>
            <ac:spMk id="59" creationId="{5BB48149-07E0-BB00-71A5-1041CCF37827}"/>
          </ac:spMkLst>
        </pc:spChg>
        <pc:spChg chg="mod">
          <ac:chgData name="주용 손" userId="10dd8c8d2cf67975" providerId="LiveId" clId="{77925E49-64FF-4BFA-98E3-809C06BB7BCF}" dt="2026-06-26T09:45:51.827" v="10" actId="14100"/>
          <ac:spMkLst>
            <pc:docMk/>
            <pc:sldMk cId="2593395000" sldId="275"/>
            <ac:spMk id="60" creationId="{B665E045-E776-E10E-A22D-3B8C1DA9D382}"/>
          </ac:spMkLst>
        </pc:spChg>
      </pc:sldChg>
      <pc:sldChg chg="modSp mod">
        <pc:chgData name="주용 손" userId="10dd8c8d2cf67975" providerId="LiveId" clId="{77925E49-64FF-4BFA-98E3-809C06BB7BCF}" dt="2026-06-26T09:46:38.721" v="17" actId="1076"/>
        <pc:sldMkLst>
          <pc:docMk/>
          <pc:sldMk cId="3834127854" sldId="276"/>
        </pc:sldMkLst>
        <pc:graphicFrameChg chg="mod">
          <ac:chgData name="주용 손" userId="10dd8c8d2cf67975" providerId="LiveId" clId="{77925E49-64FF-4BFA-98E3-809C06BB7BCF}" dt="2026-06-26T09:46:38.721" v="17" actId="1076"/>
          <ac:graphicFrameMkLst>
            <pc:docMk/>
            <pc:sldMk cId="3834127854" sldId="276"/>
            <ac:graphicFrameMk id="12" creationId="{795C1CDC-7664-3461-93EA-E4EA3D92F624}"/>
          </ac:graphicFrameMkLst>
        </pc:graphicFrameChg>
        <pc:graphicFrameChg chg="mod">
          <ac:chgData name="주용 손" userId="10dd8c8d2cf67975" providerId="LiveId" clId="{77925E49-64FF-4BFA-98E3-809C06BB7BCF}" dt="2026-06-26T09:43:53.145" v="7" actId="1076"/>
          <ac:graphicFrameMkLst>
            <pc:docMk/>
            <pc:sldMk cId="3834127854" sldId="276"/>
            <ac:graphicFrameMk id="13" creationId="{7147DF13-6980-6C88-C66D-9E9BB119D7E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World돋움체 Light" panose="00000300000000000000" pitchFamily="2" charset="-127"/>
                <a:ea typeface="KoPubWorld돋움체 Light" panose="00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World돋움체 Light" panose="00000300000000000000" pitchFamily="2" charset="-127"/>
                <a:ea typeface="KoPubWorld돋움체 Light" panose="00000300000000000000" pitchFamily="2" charset="-127"/>
              </a:defRPr>
            </a:lvl1pPr>
          </a:lstStyle>
          <a:p>
            <a:fld id="{44F31D86-0B55-44E8-AC20-767F6FD44244}" type="datetimeFigureOut">
              <a:rPr lang="ko-KR" altLang="en-US" smtClean="0"/>
              <a:pPr/>
              <a:t>2026-06-30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World돋움체 Light" panose="00000300000000000000" pitchFamily="2" charset="-127"/>
                <a:ea typeface="KoPubWorld돋움체 Light" panose="00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World돋움체 Light" panose="00000300000000000000" pitchFamily="2" charset="-127"/>
                <a:ea typeface="KoPubWorld돋움체 Light" panose="00000300000000000000" pitchFamily="2" charset="-127"/>
              </a:defRPr>
            </a:lvl1pPr>
          </a:lstStyle>
          <a:p>
            <a:fld id="{D883DC36-BF5B-4727-910A-A2E50F2C41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237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 Light" panose="00000300000000000000" pitchFamily="2" charset="-127"/>
        <a:ea typeface="KoPubWorld돋움체 Light" panose="000003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3DC36-BF5B-4727-910A-A2E50F2C411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911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3DC36-BF5B-4727-910A-A2E50F2C411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688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3DC36-BF5B-4727-910A-A2E50F2C411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412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F195-3A0E-D496-75AC-4BF24E995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87D8EE-7BCE-DEB9-7AB6-EB666CF6A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380EB7-3447-8D7E-A71E-1840A8897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B4D6CD-54B4-36C5-74A3-546F090CB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83DC36-BF5B-4727-910A-A2E50F2C411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9871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4A6414-F113-41B5-BBA1-DAE20E2C4C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18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World돋움체 Light" panose="00000300000000000000" pitchFamily="2" charset="-127"/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World돋움체 Light" panose="00000300000000000000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World돋움체 Light" panose="00000300000000000000" pitchFamily="2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KoPubWorld돋움체 Light" panose="00000300000000000000" pitchFamily="2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KoPubWorld돋움체 Light" panose="00000300000000000000" pitchFamily="2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KoPubWorld돋움체 Light" panose="00000300000000000000" pitchFamily="2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KoPubWorld돋움체 Light" panose="00000300000000000000" pitchFamily="2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KoPubWorld돋움체 Light" panose="00000300000000000000" pitchFamily="2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KoPubWorld돋움체 Light" panose="00000300000000000000" pitchFamily="2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hub.or.kr/aihubdata/data/view.do?currMenu=115&amp;topMenu=100&amp;searchKeyword=%EC%B1%84%EC%9A%A9%EB%A9%B4%EC%A0%91%20%EC%9D%B8%ED%84%B0%EB%B7%B0%20%EB%8D%B0%EC%9D%B4%ED%84%B0&amp;aihubDataSe=data&amp;dataSetSn=7159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reeform 3"/>
          <p:cNvSpPr/>
          <p:nvPr/>
        </p:nvSpPr>
        <p:spPr>
          <a:xfrm>
            <a:off x="630468" y="585120"/>
            <a:ext cx="17036589" cy="9094502"/>
          </a:xfrm>
          <a:custGeom>
            <a:avLst/>
            <a:gdLst/>
            <a:ahLst/>
            <a:cxnLst/>
            <a:rect l="l" t="t" r="r" b="b"/>
            <a:pathLst>
              <a:path w="5109002" h="2727296">
                <a:moveTo>
                  <a:pt x="0" y="0"/>
                </a:moveTo>
                <a:lnTo>
                  <a:pt x="5109002" y="0"/>
                </a:lnTo>
                <a:lnTo>
                  <a:pt x="5109002" y="2727296"/>
                </a:lnTo>
                <a:lnTo>
                  <a:pt x="0" y="2727296"/>
                </a:lnTo>
                <a:close/>
              </a:path>
            </a:pathLst>
          </a:custGeom>
          <a:solidFill>
            <a:srgbClr val="FEFBF6"/>
          </a:solidFill>
          <a:ln w="28575" cap="sq">
            <a:solidFill>
              <a:schemeClr val="tx1"/>
            </a:solidFill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4"/>
          <p:cNvSpPr txBox="1"/>
          <p:nvPr/>
        </p:nvSpPr>
        <p:spPr>
          <a:xfrm>
            <a:off x="630468" y="331022"/>
            <a:ext cx="17036589" cy="934860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499"/>
              </a:lnSpc>
            </a:pPr>
            <a:endParaRPr>
              <a:latin typeface="+mn-ea"/>
            </a:endParaRPr>
          </a:p>
        </p:txBody>
      </p:sp>
      <p:grpSp>
        <p:nvGrpSpPr>
          <p:cNvPr id="84" name="Group 5"/>
          <p:cNvGrpSpPr/>
          <p:nvPr/>
        </p:nvGrpSpPr>
        <p:grpSpPr>
          <a:xfrm>
            <a:off x="1569808" y="2927976"/>
            <a:ext cx="114300" cy="114300"/>
            <a:chOff x="0" y="0"/>
            <a:chExt cx="152400" cy="152400"/>
          </a:xfrm>
        </p:grpSpPr>
        <p:sp>
          <p:nvSpPr>
            <p:cNvPr id="85" name="Freeform 6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TextBox 7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87" name="Group 8"/>
          <p:cNvGrpSpPr/>
          <p:nvPr/>
        </p:nvGrpSpPr>
        <p:grpSpPr>
          <a:xfrm>
            <a:off x="1760308" y="7214226"/>
            <a:ext cx="95250" cy="95250"/>
            <a:chOff x="0" y="0"/>
            <a:chExt cx="127000" cy="127000"/>
          </a:xfrm>
        </p:grpSpPr>
        <p:sp>
          <p:nvSpPr>
            <p:cNvPr id="88" name="Freeform 9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TextBox 10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0" name="Group 11"/>
          <p:cNvGrpSpPr/>
          <p:nvPr/>
        </p:nvGrpSpPr>
        <p:grpSpPr>
          <a:xfrm>
            <a:off x="16192500" y="2857500"/>
            <a:ext cx="133350" cy="133350"/>
            <a:chOff x="0" y="0"/>
            <a:chExt cx="177800" cy="177800"/>
          </a:xfrm>
        </p:grpSpPr>
        <p:sp>
          <p:nvSpPr>
            <p:cNvPr id="91" name="Freeform 12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TextBox 13"/>
            <p:cNvSpPr txBox="1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3" name="Group 14"/>
          <p:cNvGrpSpPr/>
          <p:nvPr/>
        </p:nvGrpSpPr>
        <p:grpSpPr>
          <a:xfrm>
            <a:off x="15716250" y="7143750"/>
            <a:ext cx="95250" cy="95250"/>
            <a:chOff x="0" y="0"/>
            <a:chExt cx="127000" cy="127000"/>
          </a:xfrm>
        </p:grpSpPr>
        <p:sp>
          <p:nvSpPr>
            <p:cNvPr id="94" name="Freeform 15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TextBox 16"/>
            <p:cNvSpPr txBox="1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6" name="Group 17"/>
          <p:cNvGrpSpPr/>
          <p:nvPr/>
        </p:nvGrpSpPr>
        <p:grpSpPr>
          <a:xfrm>
            <a:off x="2857500" y="7620000"/>
            <a:ext cx="76200" cy="76200"/>
            <a:chOff x="0" y="0"/>
            <a:chExt cx="101600" cy="101600"/>
          </a:xfrm>
        </p:grpSpPr>
        <p:sp>
          <p:nvSpPr>
            <p:cNvPr id="97" name="Freeform 18"/>
            <p:cNvSpPr/>
            <p:nvPr/>
          </p:nvSpPr>
          <p:spPr>
            <a:xfrm>
              <a:off x="0" y="0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Box 19"/>
            <p:cNvSpPr txBox="1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9" name="Group 20"/>
          <p:cNvGrpSpPr/>
          <p:nvPr/>
        </p:nvGrpSpPr>
        <p:grpSpPr>
          <a:xfrm>
            <a:off x="14763750" y="4762500"/>
            <a:ext cx="114300" cy="114300"/>
            <a:chOff x="0" y="0"/>
            <a:chExt cx="152400" cy="152400"/>
          </a:xfrm>
        </p:grpSpPr>
        <p:sp>
          <p:nvSpPr>
            <p:cNvPr id="100" name="Freeform 21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TextBox 22"/>
            <p:cNvSpPr txBox="1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02" name="Group 23"/>
          <p:cNvGrpSpPr/>
          <p:nvPr/>
        </p:nvGrpSpPr>
        <p:grpSpPr>
          <a:xfrm>
            <a:off x="1284058" y="5309226"/>
            <a:ext cx="85725" cy="85725"/>
            <a:chOff x="0" y="0"/>
            <a:chExt cx="114300" cy="114300"/>
          </a:xfrm>
        </p:grpSpPr>
        <p:sp>
          <p:nvSpPr>
            <p:cNvPr id="103" name="Freeform 24"/>
            <p:cNvSpPr/>
            <p:nvPr/>
          </p:nvSpPr>
          <p:spPr>
            <a:xfrm>
              <a:off x="0" y="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TextBox 25"/>
            <p:cNvSpPr txBox="1"/>
            <p:nvPr/>
          </p:nvSpPr>
          <p:spPr>
            <a:xfrm>
              <a:off x="0" y="-38100"/>
              <a:ext cx="114300" cy="152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05" name="Group 26"/>
          <p:cNvGrpSpPr/>
          <p:nvPr/>
        </p:nvGrpSpPr>
        <p:grpSpPr>
          <a:xfrm>
            <a:off x="16668750" y="5715000"/>
            <a:ext cx="104775" cy="104775"/>
            <a:chOff x="0" y="0"/>
            <a:chExt cx="139700" cy="139700"/>
          </a:xfrm>
        </p:grpSpPr>
        <p:sp>
          <p:nvSpPr>
            <p:cNvPr id="106" name="Freeform 27"/>
            <p:cNvSpPr/>
            <p:nvPr/>
          </p:nvSpPr>
          <p:spPr>
            <a:xfrm>
              <a:off x="0" y="0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69850" y="0"/>
                  </a:moveTo>
                  <a:cubicBezTo>
                    <a:pt x="31273" y="0"/>
                    <a:pt x="0" y="31273"/>
                    <a:pt x="0" y="69850"/>
                  </a:cubicBezTo>
                  <a:cubicBezTo>
                    <a:pt x="0" y="108427"/>
                    <a:pt x="31273" y="139700"/>
                    <a:pt x="69850" y="139700"/>
                  </a:cubicBezTo>
                  <a:cubicBezTo>
                    <a:pt x="108427" y="139700"/>
                    <a:pt x="139700" y="108427"/>
                    <a:pt x="139700" y="69850"/>
                  </a:cubicBezTo>
                  <a:cubicBezTo>
                    <a:pt x="139700" y="31273"/>
                    <a:pt x="108427" y="0"/>
                    <a:pt x="69850" y="0"/>
                  </a:cubicBez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TextBox 28"/>
            <p:cNvSpPr txBox="1"/>
            <p:nvPr/>
          </p:nvSpPr>
          <p:spPr>
            <a:xfrm>
              <a:off x="0" y="-38100"/>
              <a:ext cx="139700" cy="17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08" name="Group 29"/>
          <p:cNvGrpSpPr/>
          <p:nvPr/>
        </p:nvGrpSpPr>
        <p:grpSpPr>
          <a:xfrm>
            <a:off x="15716250" y="1905000"/>
            <a:ext cx="381000" cy="381000"/>
            <a:chOff x="0" y="0"/>
            <a:chExt cx="508000" cy="508000"/>
          </a:xfrm>
        </p:grpSpPr>
        <p:sp>
          <p:nvSpPr>
            <p:cNvPr id="109" name="Freeform 30"/>
            <p:cNvSpPr/>
            <p:nvPr/>
          </p:nvSpPr>
          <p:spPr>
            <a:xfrm>
              <a:off x="0" y="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FF8A3D">
                <a:alpha val="14902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TextBox 31"/>
            <p:cNvSpPr txBox="1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11" name="Group 32"/>
          <p:cNvGrpSpPr/>
          <p:nvPr/>
        </p:nvGrpSpPr>
        <p:grpSpPr>
          <a:xfrm>
            <a:off x="1428750" y="7143750"/>
            <a:ext cx="571500" cy="571500"/>
            <a:chOff x="0" y="0"/>
            <a:chExt cx="762000" cy="762000"/>
          </a:xfrm>
        </p:grpSpPr>
        <p:sp>
          <p:nvSpPr>
            <p:cNvPr id="112" name="Freeform 33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FF8A3D">
                <a:alpha val="11765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" name="TextBox 34"/>
            <p:cNvSpPr txBox="1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14" name="Group 35"/>
          <p:cNvGrpSpPr/>
          <p:nvPr/>
        </p:nvGrpSpPr>
        <p:grpSpPr>
          <a:xfrm>
            <a:off x="1760308" y="3880476"/>
            <a:ext cx="285750" cy="285750"/>
            <a:chOff x="0" y="0"/>
            <a:chExt cx="381000" cy="381000"/>
          </a:xfrm>
        </p:grpSpPr>
        <p:sp>
          <p:nvSpPr>
            <p:cNvPr id="115" name="Freeform 3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FFC94A">
                <a:alpha val="29804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TextBox 37"/>
            <p:cNvSpPr txBox="1"/>
            <p:nvPr/>
          </p:nvSpPr>
          <p:spPr>
            <a:xfrm>
              <a:off x="0" y="-38100"/>
              <a:ext cx="381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1" name="Group 42"/>
          <p:cNvGrpSpPr/>
          <p:nvPr/>
        </p:nvGrpSpPr>
        <p:grpSpPr>
          <a:xfrm>
            <a:off x="16381749" y="900778"/>
            <a:ext cx="212083" cy="212083"/>
            <a:chOff x="0" y="0"/>
            <a:chExt cx="812800" cy="812800"/>
          </a:xfrm>
        </p:grpSpPr>
        <p:sp>
          <p:nvSpPr>
            <p:cNvPr id="122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6A4A2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TextBox 4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4" name="Group 45"/>
          <p:cNvGrpSpPr/>
          <p:nvPr/>
        </p:nvGrpSpPr>
        <p:grpSpPr>
          <a:xfrm>
            <a:off x="16670720" y="900778"/>
            <a:ext cx="212083" cy="212083"/>
            <a:chOff x="0" y="0"/>
            <a:chExt cx="812800" cy="812800"/>
          </a:xfrm>
        </p:grpSpPr>
        <p:sp>
          <p:nvSpPr>
            <p:cNvPr id="125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6A4A2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6" name="TextBox 4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7" name="Group 48"/>
          <p:cNvGrpSpPr/>
          <p:nvPr/>
        </p:nvGrpSpPr>
        <p:grpSpPr>
          <a:xfrm>
            <a:off x="16959003" y="900778"/>
            <a:ext cx="212083" cy="212083"/>
            <a:chOff x="0" y="0"/>
            <a:chExt cx="812800" cy="812800"/>
          </a:xfrm>
        </p:grpSpPr>
        <p:sp>
          <p:nvSpPr>
            <p:cNvPr id="128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6A4A2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TextBox 5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30" name="Group 51"/>
          <p:cNvGrpSpPr/>
          <p:nvPr/>
        </p:nvGrpSpPr>
        <p:grpSpPr>
          <a:xfrm>
            <a:off x="1063207" y="875683"/>
            <a:ext cx="244433" cy="246703"/>
            <a:chOff x="0" y="0"/>
            <a:chExt cx="64377" cy="64975"/>
          </a:xfrm>
        </p:grpSpPr>
        <p:sp>
          <p:nvSpPr>
            <p:cNvPr id="131" name="Freeform 52"/>
            <p:cNvSpPr/>
            <p:nvPr/>
          </p:nvSpPr>
          <p:spPr>
            <a:xfrm>
              <a:off x="0" y="0"/>
              <a:ext cx="64377" cy="64975"/>
            </a:xfrm>
            <a:custGeom>
              <a:avLst/>
              <a:gdLst/>
              <a:ahLst/>
              <a:cxnLst/>
              <a:rect l="l" t="t" r="r" b="b"/>
              <a:pathLst>
                <a:path w="64377" h="64975">
                  <a:moveTo>
                    <a:pt x="0" y="0"/>
                  </a:moveTo>
                  <a:lnTo>
                    <a:pt x="64377" y="0"/>
                  </a:lnTo>
                  <a:lnTo>
                    <a:pt x="64377" y="64975"/>
                  </a:lnTo>
                  <a:lnTo>
                    <a:pt x="0" y="64975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6A4A2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" name="TextBox 53"/>
            <p:cNvSpPr txBox="1"/>
            <p:nvPr/>
          </p:nvSpPr>
          <p:spPr>
            <a:xfrm>
              <a:off x="0" y="-85725"/>
              <a:ext cx="64377" cy="15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DD4666C-6FCF-45E7-C283-416E7D3A8987}"/>
              </a:ext>
            </a:extLst>
          </p:cNvPr>
          <p:cNvGrpSpPr/>
          <p:nvPr/>
        </p:nvGrpSpPr>
        <p:grpSpPr>
          <a:xfrm>
            <a:off x="4747267" y="2506980"/>
            <a:ext cx="8507643" cy="166688"/>
            <a:chOff x="4803453" y="2483735"/>
            <a:chExt cx="8507643" cy="166688"/>
          </a:xfrm>
        </p:grpSpPr>
        <p:sp>
          <p:nvSpPr>
            <p:cNvPr id="133" name="AutoShape 54"/>
            <p:cNvSpPr/>
            <p:nvPr/>
          </p:nvSpPr>
          <p:spPr>
            <a:xfrm>
              <a:off x="4993953" y="2574223"/>
              <a:ext cx="8126643" cy="0"/>
            </a:xfrm>
            <a:prstGeom prst="line">
              <a:avLst/>
            </a:prstGeom>
            <a:ln w="19050" cap="flat">
              <a:solidFill>
                <a:srgbClr val="FFC94A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4" name="Group 55"/>
            <p:cNvGrpSpPr/>
            <p:nvPr/>
          </p:nvGrpSpPr>
          <p:grpSpPr>
            <a:xfrm>
              <a:off x="4803453" y="2498023"/>
              <a:ext cx="152400" cy="152400"/>
              <a:chOff x="0" y="0"/>
              <a:chExt cx="203200" cy="203200"/>
            </a:xfrm>
          </p:grpSpPr>
          <p:sp>
            <p:nvSpPr>
              <p:cNvPr id="135" name="Freeform 56"/>
              <p:cNvSpPr/>
              <p:nvPr/>
            </p:nvSpPr>
            <p:spPr>
              <a:xfrm>
                <a:off x="0" y="0"/>
                <a:ext cx="203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203200">
                    <a:moveTo>
                      <a:pt x="101600" y="0"/>
                    </a:moveTo>
                    <a:lnTo>
                      <a:pt x="203200" y="101600"/>
                    </a:lnTo>
                    <a:lnTo>
                      <a:pt x="101600" y="203200"/>
                    </a:lnTo>
                    <a:lnTo>
                      <a:pt x="0" y="101600"/>
                    </a:lnTo>
                    <a:lnTo>
                      <a:pt x="101600" y="0"/>
                    </a:lnTo>
                    <a:close/>
                  </a:path>
                </a:pathLst>
              </a:custGeom>
              <a:solidFill>
                <a:srgbClr val="FF8A3D">
                  <a:alpha val="69804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6" name="TextBox 57"/>
              <p:cNvSpPr txBox="1"/>
              <p:nvPr/>
            </p:nvSpPr>
            <p:spPr>
              <a:xfrm>
                <a:off x="0" y="-38100"/>
                <a:ext cx="203200" cy="241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+mn-ea"/>
                </a:endParaRPr>
              </a:p>
            </p:txBody>
          </p:sp>
        </p:grpSp>
        <p:grpSp>
          <p:nvGrpSpPr>
            <p:cNvPr id="137" name="Group 58"/>
            <p:cNvGrpSpPr/>
            <p:nvPr/>
          </p:nvGrpSpPr>
          <p:grpSpPr>
            <a:xfrm>
              <a:off x="13158696" y="2483735"/>
              <a:ext cx="152400" cy="152400"/>
              <a:chOff x="0" y="0"/>
              <a:chExt cx="203200" cy="203200"/>
            </a:xfrm>
          </p:grpSpPr>
          <p:sp>
            <p:nvSpPr>
              <p:cNvPr id="138" name="Freeform 59"/>
              <p:cNvSpPr/>
              <p:nvPr/>
            </p:nvSpPr>
            <p:spPr>
              <a:xfrm>
                <a:off x="0" y="0"/>
                <a:ext cx="203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203200">
                    <a:moveTo>
                      <a:pt x="101600" y="0"/>
                    </a:moveTo>
                    <a:lnTo>
                      <a:pt x="203200" y="101600"/>
                    </a:lnTo>
                    <a:lnTo>
                      <a:pt x="101600" y="203200"/>
                    </a:lnTo>
                    <a:lnTo>
                      <a:pt x="0" y="101600"/>
                    </a:lnTo>
                    <a:lnTo>
                      <a:pt x="101600" y="0"/>
                    </a:lnTo>
                    <a:close/>
                  </a:path>
                </a:pathLst>
              </a:custGeom>
              <a:solidFill>
                <a:srgbClr val="FF8A3D">
                  <a:alpha val="69804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9" name="TextBox 60"/>
              <p:cNvSpPr txBox="1"/>
              <p:nvPr/>
            </p:nvSpPr>
            <p:spPr>
              <a:xfrm>
                <a:off x="0" y="-38100"/>
                <a:ext cx="203200" cy="241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+mn-ea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BC8FAB-919E-8A41-AD75-8D5E1E26B900}"/>
              </a:ext>
            </a:extLst>
          </p:cNvPr>
          <p:cNvGrpSpPr/>
          <p:nvPr/>
        </p:nvGrpSpPr>
        <p:grpSpPr>
          <a:xfrm>
            <a:off x="5356224" y="8209210"/>
            <a:ext cx="6667500" cy="523875"/>
            <a:chOff x="1714500" y="5385313"/>
            <a:chExt cx="6667500" cy="523875"/>
          </a:xfrm>
        </p:grpSpPr>
        <p:grpSp>
          <p:nvGrpSpPr>
            <p:cNvPr id="117" name="Group 38"/>
            <p:cNvGrpSpPr/>
            <p:nvPr/>
          </p:nvGrpSpPr>
          <p:grpSpPr>
            <a:xfrm>
              <a:off x="1714500" y="5385313"/>
              <a:ext cx="6667500" cy="523875"/>
              <a:chOff x="0" y="0"/>
              <a:chExt cx="1999477" cy="157102"/>
            </a:xfrm>
          </p:grpSpPr>
          <p:sp>
            <p:nvSpPr>
              <p:cNvPr id="118" name="Freeform 39"/>
              <p:cNvSpPr/>
              <p:nvPr/>
            </p:nvSpPr>
            <p:spPr>
              <a:xfrm>
                <a:off x="0" y="0"/>
                <a:ext cx="1999477" cy="157102"/>
              </a:xfrm>
              <a:custGeom>
                <a:avLst/>
                <a:gdLst/>
                <a:ahLst/>
                <a:cxnLst/>
                <a:rect l="l" t="t" r="r" b="b"/>
                <a:pathLst>
                  <a:path w="1999477" h="157102">
                    <a:moveTo>
                      <a:pt x="0" y="0"/>
                    </a:moveTo>
                    <a:lnTo>
                      <a:pt x="1999477" y="0"/>
                    </a:lnTo>
                    <a:lnTo>
                      <a:pt x="1999477" y="157102"/>
                    </a:lnTo>
                    <a:lnTo>
                      <a:pt x="0" y="157102"/>
                    </a:lnTo>
                    <a:close/>
                  </a:path>
                </a:pathLst>
              </a:custGeom>
              <a:solidFill>
                <a:srgbClr val="FF8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9" name="TextBox 40"/>
              <p:cNvSpPr txBox="1"/>
              <p:nvPr/>
            </p:nvSpPr>
            <p:spPr>
              <a:xfrm>
                <a:off x="0" y="-76200"/>
                <a:ext cx="1999477" cy="2333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499"/>
                  </a:lnSpc>
                </a:pPr>
                <a:endParaRPr>
                  <a:latin typeface="+mn-ea"/>
                </a:endParaRPr>
              </a:p>
            </p:txBody>
          </p:sp>
        </p:grpSp>
        <p:sp>
          <p:nvSpPr>
            <p:cNvPr id="141" name="TextBox 62"/>
            <p:cNvSpPr txBox="1"/>
            <p:nvPr/>
          </p:nvSpPr>
          <p:spPr>
            <a:xfrm>
              <a:off x="1755775" y="5393943"/>
              <a:ext cx="6477000" cy="445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71"/>
                </a:lnSpc>
                <a:spcBef>
                  <a:spcPct val="0"/>
                </a:spcBef>
              </a:pP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AI 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기반</a:t>
              </a: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 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면접</a:t>
              </a: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 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코칭</a:t>
              </a: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 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서비스</a:t>
              </a: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 '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꼬치꼬치</a:t>
              </a: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' 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기획</a:t>
              </a:r>
              <a:r>
                <a:rPr lang="en-US" sz="2323" b="1" u="none" strike="noStrike" spc="-34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 및 </a:t>
              </a:r>
              <a:r>
                <a:rPr lang="en-US" sz="2323" b="1" u="none" strike="noStrike" spc="-34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Medium"/>
                </a:rPr>
                <a:t>제작</a:t>
              </a:r>
              <a:endParaRPr lang="en-US" sz="2323" b="1" u="none" strike="noStrike" spc="-34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Medium"/>
              </a:endParaRPr>
            </a:p>
          </p:txBody>
        </p:sp>
      </p:grpSp>
      <p:sp>
        <p:nvSpPr>
          <p:cNvPr id="142" name="TextBox 63"/>
          <p:cNvSpPr txBox="1"/>
          <p:nvPr/>
        </p:nvSpPr>
        <p:spPr>
          <a:xfrm>
            <a:off x="7252692" y="817551"/>
            <a:ext cx="3782616" cy="301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6A4A2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Helios Extended Bold"/>
                <a:sym typeface="Helios Extended Bold"/>
              </a:rPr>
              <a:t>KKOCHI-KKOCHI</a:t>
            </a:r>
            <a:endParaRPr lang="en-US" sz="1899" b="1" u="none" strike="noStrike" dirty="0">
              <a:solidFill>
                <a:srgbClr val="6A4A2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Helios Extended Bold"/>
              <a:sym typeface="Helios Extended Bold"/>
            </a:endParaRPr>
          </a:p>
        </p:txBody>
      </p:sp>
      <p:grpSp>
        <p:nvGrpSpPr>
          <p:cNvPr id="148" name="Group 69"/>
          <p:cNvGrpSpPr/>
          <p:nvPr/>
        </p:nvGrpSpPr>
        <p:grpSpPr>
          <a:xfrm>
            <a:off x="5715000" y="1739168"/>
            <a:ext cx="228600" cy="228600"/>
            <a:chOff x="0" y="0"/>
            <a:chExt cx="304800" cy="304800"/>
          </a:xfrm>
        </p:grpSpPr>
        <p:sp>
          <p:nvSpPr>
            <p:cNvPr id="149" name="Freeform 70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88377" y="116423"/>
                  </a:lnTo>
                  <a:lnTo>
                    <a:pt x="304800" y="116423"/>
                  </a:lnTo>
                  <a:lnTo>
                    <a:pt x="210612" y="188377"/>
                  </a:lnTo>
                  <a:lnTo>
                    <a:pt x="246588" y="304800"/>
                  </a:lnTo>
                  <a:lnTo>
                    <a:pt x="152400" y="232847"/>
                  </a:lnTo>
                  <a:lnTo>
                    <a:pt x="58212" y="304800"/>
                  </a:lnTo>
                  <a:lnTo>
                    <a:pt x="94188" y="188377"/>
                  </a:lnTo>
                  <a:lnTo>
                    <a:pt x="0" y="116423"/>
                  </a:lnTo>
                  <a:lnTo>
                    <a:pt x="116423" y="116423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A3D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0" name="TextBox 71"/>
            <p:cNvSpPr txBox="1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1" name="Group 72"/>
          <p:cNvGrpSpPr/>
          <p:nvPr/>
        </p:nvGrpSpPr>
        <p:grpSpPr>
          <a:xfrm>
            <a:off x="16954500" y="1714500"/>
            <a:ext cx="228600" cy="228600"/>
            <a:chOff x="0" y="0"/>
            <a:chExt cx="304800" cy="304800"/>
          </a:xfrm>
        </p:grpSpPr>
        <p:sp>
          <p:nvSpPr>
            <p:cNvPr id="152" name="Freeform 73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lnTo>
                    <a:pt x="188377" y="116423"/>
                  </a:lnTo>
                  <a:lnTo>
                    <a:pt x="304800" y="116423"/>
                  </a:lnTo>
                  <a:lnTo>
                    <a:pt x="210612" y="188377"/>
                  </a:lnTo>
                  <a:lnTo>
                    <a:pt x="246588" y="304800"/>
                  </a:lnTo>
                  <a:lnTo>
                    <a:pt x="152400" y="232847"/>
                  </a:lnTo>
                  <a:lnTo>
                    <a:pt x="58212" y="304800"/>
                  </a:lnTo>
                  <a:lnTo>
                    <a:pt x="94188" y="188377"/>
                  </a:lnTo>
                  <a:lnTo>
                    <a:pt x="0" y="116423"/>
                  </a:lnTo>
                  <a:lnTo>
                    <a:pt x="116423" y="116423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8A3D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3" name="TextBox 74"/>
            <p:cNvSpPr txBox="1"/>
            <p:nvPr/>
          </p:nvSpPr>
          <p:spPr>
            <a:xfrm>
              <a:off x="0" y="-38100"/>
              <a:ext cx="304800" cy="34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4" name="Group 75"/>
          <p:cNvGrpSpPr/>
          <p:nvPr/>
        </p:nvGrpSpPr>
        <p:grpSpPr>
          <a:xfrm>
            <a:off x="12023724" y="2274411"/>
            <a:ext cx="190500" cy="190500"/>
            <a:chOff x="0" y="0"/>
            <a:chExt cx="254000" cy="254000"/>
          </a:xfrm>
        </p:grpSpPr>
        <p:sp>
          <p:nvSpPr>
            <p:cNvPr id="155" name="Freeform 76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lnTo>
                    <a:pt x="156981" y="97019"/>
                  </a:lnTo>
                  <a:lnTo>
                    <a:pt x="254000" y="97019"/>
                  </a:lnTo>
                  <a:lnTo>
                    <a:pt x="175510" y="156981"/>
                  </a:lnTo>
                  <a:lnTo>
                    <a:pt x="205490" y="254000"/>
                  </a:lnTo>
                  <a:lnTo>
                    <a:pt x="127000" y="194039"/>
                  </a:lnTo>
                  <a:lnTo>
                    <a:pt x="48510" y="254000"/>
                  </a:lnTo>
                  <a:lnTo>
                    <a:pt x="78490" y="156981"/>
                  </a:lnTo>
                  <a:lnTo>
                    <a:pt x="0" y="97019"/>
                  </a:lnTo>
                  <a:lnTo>
                    <a:pt x="97019" y="97019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6" name="TextBox 77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7" name="Group 78"/>
          <p:cNvGrpSpPr/>
          <p:nvPr/>
        </p:nvGrpSpPr>
        <p:grpSpPr>
          <a:xfrm>
            <a:off x="16954500" y="8096250"/>
            <a:ext cx="190500" cy="190500"/>
            <a:chOff x="0" y="0"/>
            <a:chExt cx="254000" cy="254000"/>
          </a:xfrm>
        </p:grpSpPr>
        <p:sp>
          <p:nvSpPr>
            <p:cNvPr id="158" name="Freeform 79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lnTo>
                    <a:pt x="156981" y="97019"/>
                  </a:lnTo>
                  <a:lnTo>
                    <a:pt x="254000" y="97019"/>
                  </a:lnTo>
                  <a:lnTo>
                    <a:pt x="175510" y="156981"/>
                  </a:lnTo>
                  <a:lnTo>
                    <a:pt x="205490" y="254000"/>
                  </a:lnTo>
                  <a:lnTo>
                    <a:pt x="127000" y="194039"/>
                  </a:lnTo>
                  <a:lnTo>
                    <a:pt x="48510" y="254000"/>
                  </a:lnTo>
                  <a:lnTo>
                    <a:pt x="78490" y="156981"/>
                  </a:lnTo>
                  <a:lnTo>
                    <a:pt x="0" y="97019"/>
                  </a:lnTo>
                  <a:lnTo>
                    <a:pt x="97019" y="97019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FFC94A">
                <a:alpha val="60000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9" name="TextBox 80"/>
            <p:cNvSpPr txBox="1"/>
            <p:nvPr/>
          </p:nvSpPr>
          <p:spPr>
            <a:xfrm>
              <a:off x="0" y="-38100"/>
              <a:ext cx="2540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" name="TextBox 64">
            <a:extLst>
              <a:ext uri="{FF2B5EF4-FFF2-40B4-BE49-F238E27FC236}">
                <a16:creationId xmlns:a16="http://schemas.microsoft.com/office/drawing/2014/main" id="{D795E020-8160-9076-6BF4-7C0EC0E53319}"/>
              </a:ext>
            </a:extLst>
          </p:cNvPr>
          <p:cNvSpPr txBox="1"/>
          <p:nvPr/>
        </p:nvSpPr>
        <p:spPr>
          <a:xfrm>
            <a:off x="4694811" y="8970303"/>
            <a:ext cx="788237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844"/>
              </a:lnSpc>
              <a:spcBef>
                <a:spcPct val="0"/>
              </a:spcBef>
            </a:pPr>
            <a:r>
              <a:rPr lang="ko-KR" altLang="en-US" sz="2000" b="1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 </a:t>
            </a:r>
            <a:r>
              <a:rPr lang="en-US" altLang="ko-KR" sz="2000" b="1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1 </a:t>
            </a:r>
            <a:r>
              <a:rPr lang="ko-KR" altLang="en-US" sz="2000" b="1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팀  </a:t>
            </a:r>
            <a:r>
              <a:rPr lang="ko-KR" altLang="en-US" sz="2000" b="1" spc="-2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ㅣ</a:t>
            </a:r>
            <a:r>
              <a:rPr lang="ko-KR" altLang="en-US" sz="2000" b="1" u="none" strike="noStrike" spc="-2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송현화</a:t>
            </a:r>
            <a:r>
              <a:rPr lang="en-US" altLang="ko-KR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,</a:t>
            </a:r>
            <a:r>
              <a:rPr lang="ko-KR" altLang="en-US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 </a:t>
            </a:r>
            <a:r>
              <a:rPr lang="ko-KR" altLang="en-US" sz="2000" b="1" spc="-2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황준하</a:t>
            </a:r>
            <a:r>
              <a:rPr lang="en-US" altLang="ko-KR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, </a:t>
            </a:r>
            <a:r>
              <a:rPr lang="ko-KR" altLang="en-US" sz="2000" b="1" u="none" strike="noStrike" spc="-2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신승연</a:t>
            </a:r>
            <a:r>
              <a:rPr lang="en-US" altLang="ko-KR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, </a:t>
            </a:r>
            <a:r>
              <a:rPr lang="ko-KR" altLang="en-US" sz="2000" b="1" u="none" strike="noStrike" spc="-2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손주용</a:t>
            </a:r>
            <a:r>
              <a:rPr lang="en-US" altLang="ko-KR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, </a:t>
            </a:r>
            <a:r>
              <a:rPr lang="ko-KR" altLang="en-US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박성환</a:t>
            </a:r>
            <a:r>
              <a:rPr lang="en-US" altLang="ko-KR" sz="2000" b="1" u="none" strike="noStrike" spc="-2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 </a:t>
            </a:r>
            <a:endParaRPr lang="en-US" sz="2000" b="1" u="none" strike="noStrike" spc="-26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Bold"/>
            </a:endParaRP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CFDDD220-0BDF-90CE-CF43-85AEBF30ECD3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61"/>
          <p:cNvSpPr txBox="1"/>
          <p:nvPr/>
        </p:nvSpPr>
        <p:spPr>
          <a:xfrm>
            <a:off x="4804418" y="1830430"/>
            <a:ext cx="8393343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779"/>
              </a:lnSpc>
              <a:spcBef>
                <a:spcPct val="0"/>
              </a:spcBef>
            </a:pPr>
            <a:r>
              <a:rPr lang="en-US" sz="4800" b="1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면접</a:t>
            </a:r>
            <a:r>
              <a:rPr lang="en-US" sz="48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 </a:t>
            </a:r>
            <a:r>
              <a:rPr lang="en-US" sz="4800" b="1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꼬리질문</a:t>
            </a:r>
            <a:r>
              <a:rPr lang="en-US" sz="48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 </a:t>
            </a:r>
            <a:r>
              <a:rPr lang="en-US" sz="4800" b="1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챗봇</a:t>
            </a:r>
            <a:r>
              <a:rPr lang="en-US" sz="48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 </a:t>
            </a:r>
            <a:r>
              <a:rPr lang="en-US" sz="4800" b="1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Ultra-Bold"/>
              </a:rPr>
              <a:t>개발</a:t>
            </a:r>
            <a:endParaRPr lang="en-US" sz="4800" b="1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Ultra-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543192-42C2-35D4-155B-F862A3FA9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008" y="2323461"/>
            <a:ext cx="10061933" cy="6034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0943" y="596249"/>
            <a:ext cx="17036589" cy="9094502"/>
            <a:chOff x="0" y="0"/>
            <a:chExt cx="5109002" cy="2727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9"/>
                </a:lnSpc>
              </a:pPr>
              <a:endParaRPr b="1">
                <a:latin typeface="+mn-ea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381749" y="903452"/>
            <a:ext cx="212083" cy="2120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70720" y="903452"/>
            <a:ext cx="212083" cy="2120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9003" y="903452"/>
            <a:ext cx="212083" cy="2120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3207" y="886142"/>
            <a:ext cx="244433" cy="246703"/>
            <a:chOff x="0" y="0"/>
            <a:chExt cx="64377" cy="649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377" cy="64975"/>
            </a:xfrm>
            <a:custGeom>
              <a:avLst/>
              <a:gdLst/>
              <a:ahLst/>
              <a:cxnLst/>
              <a:rect l="l" t="t" r="r" b="b"/>
              <a:pathLst>
                <a:path w="64377" h="64975">
                  <a:moveTo>
                    <a:pt x="0" y="0"/>
                  </a:moveTo>
                  <a:lnTo>
                    <a:pt x="64377" y="0"/>
                  </a:lnTo>
                  <a:lnTo>
                    <a:pt x="64377" y="64975"/>
                  </a:lnTo>
                  <a:lnTo>
                    <a:pt x="0" y="64975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4377" cy="15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07640" y="571500"/>
            <a:ext cx="1142057" cy="70596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0" indent="0" algn="ctr">
              <a:lnSpc>
                <a:spcPts val="6319"/>
              </a:lnSpc>
              <a:spcBef>
                <a:spcPct val="0"/>
              </a:spcBef>
            </a:pPr>
            <a:r>
              <a:rPr lang="en-US" sz="2600" b="1" u="none" strike="noStrike" spc="-59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목차</a:t>
            </a:r>
            <a:endParaRPr lang="en-US" sz="2600" b="1" u="none" strike="noStrike" spc="-59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Bold"/>
            </a:endParaRPr>
          </a:p>
        </p:txBody>
      </p:sp>
      <p:sp>
        <p:nvSpPr>
          <p:cNvPr id="65" name="AutoShape 5">
            <a:extLst>
              <a:ext uri="{FF2B5EF4-FFF2-40B4-BE49-F238E27FC236}">
                <a16:creationId xmlns:a16="http://schemas.microsoft.com/office/drawing/2014/main" id="{441A5BFC-A852-F139-B902-791E196BE4B8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86" name="Rectangle 4">
            <a:extLst>
              <a:ext uri="{FF2B5EF4-FFF2-40B4-BE49-F238E27FC236}">
                <a16:creationId xmlns:a16="http://schemas.microsoft.com/office/drawing/2014/main" id="{8A5A5EF3-152A-3C39-BFF5-09B8CFC994AD}"/>
              </a:ext>
            </a:extLst>
          </p:cNvPr>
          <p:cNvSpPr/>
          <p:nvPr/>
        </p:nvSpPr>
        <p:spPr>
          <a:xfrm flipH="1">
            <a:off x="3358896" y="2527300"/>
            <a:ext cx="73152" cy="6197600"/>
          </a:xfrm>
          <a:prstGeom prst="rect">
            <a:avLst/>
          </a:prstGeom>
          <a:solidFill>
            <a:srgbClr val="EB782D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7" name="Oval 5">
            <a:extLst>
              <a:ext uri="{FF2B5EF4-FFF2-40B4-BE49-F238E27FC236}">
                <a16:creationId xmlns:a16="http://schemas.microsoft.com/office/drawing/2014/main" id="{E1325485-DCF5-71E2-1C80-EEFCE0EFC3BC}"/>
              </a:ext>
            </a:extLst>
          </p:cNvPr>
          <p:cNvSpPr/>
          <p:nvPr/>
        </p:nvSpPr>
        <p:spPr>
          <a:xfrm>
            <a:off x="3242905" y="2408657"/>
            <a:ext cx="270560" cy="274320"/>
          </a:xfrm>
          <a:prstGeom prst="ellipse">
            <a:avLst/>
          </a:prstGeom>
          <a:solidFill>
            <a:srgbClr val="EB782D"/>
          </a:solidFill>
          <a:ln w="9525" cap="flat" cmpd="sng" algn="ctr">
            <a:solidFill>
              <a:srgbClr val="EB782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C9EAD0-E5CE-DCF1-CD9F-BB0C91813997}"/>
              </a:ext>
            </a:extLst>
          </p:cNvPr>
          <p:cNvSpPr txBox="1"/>
          <p:nvPr/>
        </p:nvSpPr>
        <p:spPr>
          <a:xfrm>
            <a:off x="1800929" y="2253430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EB782D"/>
                </a:solidFill>
              </a:defRPr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EB782D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E3D071B-6610-379E-A0C2-13FB6A63C1EF}"/>
              </a:ext>
            </a:extLst>
          </p:cNvPr>
          <p:cNvSpPr txBox="1"/>
          <p:nvPr/>
        </p:nvSpPr>
        <p:spPr>
          <a:xfrm>
            <a:off x="4538199" y="2340623"/>
            <a:ext cx="195117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개요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39582B8-7346-E637-86E9-316A7D2C668B}"/>
              </a:ext>
            </a:extLst>
          </p:cNvPr>
          <p:cNvSpPr txBox="1"/>
          <p:nvPr/>
        </p:nvSpPr>
        <p:spPr>
          <a:xfrm>
            <a:off x="7920711" y="2365240"/>
            <a:ext cx="5647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505050"/>
                </a:solidFill>
              </a:defRPr>
            </a:pP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프로젝트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배경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목적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역할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분담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타겟팅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1" name="Rectangle 9">
            <a:extLst>
              <a:ext uri="{FF2B5EF4-FFF2-40B4-BE49-F238E27FC236}">
                <a16:creationId xmlns:a16="http://schemas.microsoft.com/office/drawing/2014/main" id="{6AE24A2A-E923-C9D0-CB76-224F165926F1}"/>
              </a:ext>
            </a:extLst>
          </p:cNvPr>
          <p:cNvSpPr/>
          <p:nvPr/>
        </p:nvSpPr>
        <p:spPr>
          <a:xfrm flipV="1">
            <a:off x="4466285" y="2867101"/>
            <a:ext cx="11861838" cy="45719"/>
          </a:xfrm>
          <a:prstGeom prst="rect">
            <a:avLst/>
          </a:prstGeom>
          <a:solidFill>
            <a:srgbClr val="DCDCD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2F28D88-16AA-0872-19C9-808417F46821}"/>
              </a:ext>
            </a:extLst>
          </p:cNvPr>
          <p:cNvSpPr txBox="1"/>
          <p:nvPr/>
        </p:nvSpPr>
        <p:spPr>
          <a:xfrm>
            <a:off x="1800929" y="3408494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EB782D"/>
                </a:solidFill>
              </a:defRPr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EB782D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FA4176-1DED-50F8-92A5-8F8B3FA0CD1A}"/>
              </a:ext>
            </a:extLst>
          </p:cNvPr>
          <p:cNvSpPr txBox="1"/>
          <p:nvPr/>
        </p:nvSpPr>
        <p:spPr>
          <a:xfrm>
            <a:off x="4524551" y="3455580"/>
            <a:ext cx="167225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설명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515401-94B5-9A64-A04F-2BDE84280092}"/>
              </a:ext>
            </a:extLst>
          </p:cNvPr>
          <p:cNvSpPr txBox="1"/>
          <p:nvPr/>
        </p:nvSpPr>
        <p:spPr>
          <a:xfrm>
            <a:off x="7920711" y="3496842"/>
            <a:ext cx="40212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505050"/>
                </a:solidFill>
              </a:defRPr>
            </a:pP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출처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형식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5E8445F-9D68-3CB6-323F-55F3E007C7B1}"/>
              </a:ext>
            </a:extLst>
          </p:cNvPr>
          <p:cNvSpPr txBox="1"/>
          <p:nvPr/>
        </p:nvSpPr>
        <p:spPr>
          <a:xfrm>
            <a:off x="1800929" y="4560251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EB782D"/>
                </a:solidFill>
              </a:defRPr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EB782D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55BF93A-5A65-43E3-5A67-4E5D750B0D35}"/>
              </a:ext>
            </a:extLst>
          </p:cNvPr>
          <p:cNvSpPr txBox="1"/>
          <p:nvPr/>
        </p:nvSpPr>
        <p:spPr>
          <a:xfrm>
            <a:off x="4539336" y="4556441"/>
            <a:ext cx="241604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기능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설계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구현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012E8B-13B8-BF90-C988-C0DD3AD91674}"/>
              </a:ext>
            </a:extLst>
          </p:cNvPr>
          <p:cNvSpPr txBox="1"/>
          <p:nvPr/>
        </p:nvSpPr>
        <p:spPr>
          <a:xfrm>
            <a:off x="7922118" y="4615171"/>
            <a:ext cx="5381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505050"/>
                </a:solidFill>
              </a:defRPr>
            </a:pP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핵심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기능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스택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기능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설계도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073E0B6-AD59-03B6-6DF7-D3BAAD6FAFDA}"/>
              </a:ext>
            </a:extLst>
          </p:cNvPr>
          <p:cNvSpPr txBox="1"/>
          <p:nvPr/>
        </p:nvSpPr>
        <p:spPr>
          <a:xfrm>
            <a:off x="1800929" y="5712837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EB782D"/>
                </a:solidFill>
              </a:defRPr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EB782D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42F118-2EF2-790F-4934-8178704D4336}"/>
              </a:ext>
            </a:extLst>
          </p:cNvPr>
          <p:cNvSpPr txBox="1"/>
          <p:nvPr/>
        </p:nvSpPr>
        <p:spPr>
          <a:xfrm>
            <a:off x="4524551" y="5624336"/>
            <a:ext cx="269496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보완점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개선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방향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6BBA7F5-2E0D-92DA-49B3-F3358BA08A7F}"/>
              </a:ext>
            </a:extLst>
          </p:cNvPr>
          <p:cNvSpPr txBox="1"/>
          <p:nvPr/>
        </p:nvSpPr>
        <p:spPr>
          <a:xfrm>
            <a:off x="7920711" y="5675276"/>
            <a:ext cx="4445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505050"/>
                </a:solidFill>
              </a:defRPr>
            </a:pP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한계점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분석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향후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계획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C84AE8C-8511-E1EA-5304-7767617306EC}"/>
              </a:ext>
            </a:extLst>
          </p:cNvPr>
          <p:cNvSpPr txBox="1"/>
          <p:nvPr/>
        </p:nvSpPr>
        <p:spPr>
          <a:xfrm>
            <a:off x="1800929" y="6867900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EB782D"/>
                </a:solidFill>
              </a:defRPr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EB782D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29B45AA-AC41-03D3-0053-BE1ADD672A6D}"/>
              </a:ext>
            </a:extLst>
          </p:cNvPr>
          <p:cNvSpPr txBox="1"/>
          <p:nvPr/>
        </p:nvSpPr>
        <p:spPr>
          <a:xfrm>
            <a:off x="4538199" y="6865913"/>
            <a:ext cx="241604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결론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및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기대</a:t>
            </a:r>
            <a:r>
              <a:rPr kumimoji="0" sz="25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효과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E8107E-D401-EE30-301E-564BE79F495A}"/>
              </a:ext>
            </a:extLst>
          </p:cNvPr>
          <p:cNvSpPr txBox="1"/>
          <p:nvPr/>
        </p:nvSpPr>
        <p:spPr>
          <a:xfrm>
            <a:off x="7920711" y="6923361"/>
            <a:ext cx="435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505050"/>
                </a:solidFill>
              </a:defRPr>
            </a:pP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성과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요약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|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사회적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0" sz="2000" b="1" i="0" u="none" strike="noStrike" kern="0" cap="none" spc="0" normalizeH="0" baseline="0" noProof="0" dirty="0" err="1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기대가치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505050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D4808C5-C64E-034A-7734-2DC8AE51CA78}"/>
              </a:ext>
            </a:extLst>
          </p:cNvPr>
          <p:cNvSpPr txBox="1"/>
          <p:nvPr/>
        </p:nvSpPr>
        <p:spPr>
          <a:xfrm>
            <a:off x="1800929" y="8022964"/>
            <a:ext cx="640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EB782D"/>
                </a:solidFill>
              </a:defRPr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EB782D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06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163FE05-C7AB-37A0-0775-056286205D15}"/>
              </a:ext>
            </a:extLst>
          </p:cNvPr>
          <p:cNvSpPr txBox="1"/>
          <p:nvPr/>
        </p:nvSpPr>
        <p:spPr>
          <a:xfrm>
            <a:off x="4538199" y="8093194"/>
            <a:ext cx="130035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/>
            </a:pPr>
            <a:r>
              <a:rPr kumimoji="0" sz="25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질의응답</a:t>
            </a:r>
            <a:endParaRPr kumimoji="0" sz="25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F28E279-BAC5-BA00-45F0-BD8BB05CAF95}"/>
              </a:ext>
            </a:extLst>
          </p:cNvPr>
          <p:cNvSpPr txBox="1"/>
          <p:nvPr/>
        </p:nvSpPr>
        <p:spPr>
          <a:xfrm>
            <a:off x="7920711" y="8148354"/>
            <a:ext cx="9426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>
                <a:solidFill>
                  <a:srgbClr val="505050"/>
                </a:solidFill>
              </a:defRPr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Q&amp;A</a:t>
            </a:r>
          </a:p>
        </p:txBody>
      </p:sp>
      <p:sp>
        <p:nvSpPr>
          <p:cNvPr id="116" name="Oval 5">
            <a:extLst>
              <a:ext uri="{FF2B5EF4-FFF2-40B4-BE49-F238E27FC236}">
                <a16:creationId xmlns:a16="http://schemas.microsoft.com/office/drawing/2014/main" id="{EAF6F236-3AAA-C0E4-721A-FAF2603D92C8}"/>
              </a:ext>
            </a:extLst>
          </p:cNvPr>
          <p:cNvSpPr/>
          <p:nvPr/>
        </p:nvSpPr>
        <p:spPr>
          <a:xfrm>
            <a:off x="3242905" y="3563721"/>
            <a:ext cx="270560" cy="274320"/>
          </a:xfrm>
          <a:prstGeom prst="ellipse">
            <a:avLst/>
          </a:prstGeom>
          <a:solidFill>
            <a:srgbClr val="EB782D"/>
          </a:solidFill>
          <a:ln w="9525" cap="flat" cmpd="sng" algn="ctr">
            <a:solidFill>
              <a:srgbClr val="EB782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7" name="Oval 5">
            <a:extLst>
              <a:ext uri="{FF2B5EF4-FFF2-40B4-BE49-F238E27FC236}">
                <a16:creationId xmlns:a16="http://schemas.microsoft.com/office/drawing/2014/main" id="{59486219-59DF-7129-785C-362A36D6EA76}"/>
              </a:ext>
            </a:extLst>
          </p:cNvPr>
          <p:cNvSpPr/>
          <p:nvPr/>
        </p:nvSpPr>
        <p:spPr>
          <a:xfrm>
            <a:off x="3242905" y="4718239"/>
            <a:ext cx="270560" cy="274320"/>
          </a:xfrm>
          <a:prstGeom prst="ellipse">
            <a:avLst/>
          </a:prstGeom>
          <a:solidFill>
            <a:srgbClr val="EB782D"/>
          </a:solidFill>
          <a:ln w="9525" cap="flat" cmpd="sng" algn="ctr">
            <a:solidFill>
              <a:srgbClr val="EB782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8" name="Oval 5">
            <a:extLst>
              <a:ext uri="{FF2B5EF4-FFF2-40B4-BE49-F238E27FC236}">
                <a16:creationId xmlns:a16="http://schemas.microsoft.com/office/drawing/2014/main" id="{DB5C60B6-AAEE-3CCA-10BD-38C62DCBC3CC}"/>
              </a:ext>
            </a:extLst>
          </p:cNvPr>
          <p:cNvSpPr/>
          <p:nvPr/>
        </p:nvSpPr>
        <p:spPr>
          <a:xfrm>
            <a:off x="3242905" y="5803900"/>
            <a:ext cx="270560" cy="274320"/>
          </a:xfrm>
          <a:prstGeom prst="ellipse">
            <a:avLst/>
          </a:prstGeom>
          <a:solidFill>
            <a:srgbClr val="EB782D"/>
          </a:solidFill>
          <a:ln w="9525" cap="flat" cmpd="sng" algn="ctr">
            <a:solidFill>
              <a:srgbClr val="EB782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9" name="Oval 5">
            <a:extLst>
              <a:ext uri="{FF2B5EF4-FFF2-40B4-BE49-F238E27FC236}">
                <a16:creationId xmlns:a16="http://schemas.microsoft.com/office/drawing/2014/main" id="{7293403F-CAF3-BE4B-4FAD-B053A66C2A54}"/>
              </a:ext>
            </a:extLst>
          </p:cNvPr>
          <p:cNvSpPr/>
          <p:nvPr/>
        </p:nvSpPr>
        <p:spPr>
          <a:xfrm>
            <a:off x="3242905" y="6977380"/>
            <a:ext cx="270560" cy="274320"/>
          </a:xfrm>
          <a:prstGeom prst="ellipse">
            <a:avLst/>
          </a:prstGeom>
          <a:solidFill>
            <a:srgbClr val="EB782D"/>
          </a:solidFill>
          <a:ln w="9525" cap="flat" cmpd="sng" algn="ctr">
            <a:solidFill>
              <a:srgbClr val="EB782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0" name="Oval 5">
            <a:extLst>
              <a:ext uri="{FF2B5EF4-FFF2-40B4-BE49-F238E27FC236}">
                <a16:creationId xmlns:a16="http://schemas.microsoft.com/office/drawing/2014/main" id="{905B5AA9-7D35-537E-6585-EE70B1ABED68}"/>
              </a:ext>
            </a:extLst>
          </p:cNvPr>
          <p:cNvSpPr/>
          <p:nvPr/>
        </p:nvSpPr>
        <p:spPr>
          <a:xfrm>
            <a:off x="3242905" y="8196580"/>
            <a:ext cx="270560" cy="274320"/>
          </a:xfrm>
          <a:prstGeom prst="ellipse">
            <a:avLst/>
          </a:prstGeom>
          <a:solidFill>
            <a:srgbClr val="EB782D"/>
          </a:solidFill>
          <a:ln w="9525" cap="flat" cmpd="sng" algn="ctr">
            <a:solidFill>
              <a:srgbClr val="EB782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2" name="Rectangle 9">
            <a:extLst>
              <a:ext uri="{FF2B5EF4-FFF2-40B4-BE49-F238E27FC236}">
                <a16:creationId xmlns:a16="http://schemas.microsoft.com/office/drawing/2014/main" id="{582A7481-3CB7-E948-9479-F2C562AA4305}"/>
              </a:ext>
            </a:extLst>
          </p:cNvPr>
          <p:cNvSpPr/>
          <p:nvPr/>
        </p:nvSpPr>
        <p:spPr>
          <a:xfrm flipV="1">
            <a:off x="4466285" y="3995844"/>
            <a:ext cx="11861838" cy="45719"/>
          </a:xfrm>
          <a:prstGeom prst="rect">
            <a:avLst/>
          </a:prstGeom>
          <a:solidFill>
            <a:srgbClr val="DCDCD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3" name="Rectangle 9">
            <a:extLst>
              <a:ext uri="{FF2B5EF4-FFF2-40B4-BE49-F238E27FC236}">
                <a16:creationId xmlns:a16="http://schemas.microsoft.com/office/drawing/2014/main" id="{DCC2F71D-ADA6-84C8-776D-4C81BE174BB9}"/>
              </a:ext>
            </a:extLst>
          </p:cNvPr>
          <p:cNvSpPr/>
          <p:nvPr/>
        </p:nvSpPr>
        <p:spPr>
          <a:xfrm flipV="1">
            <a:off x="4466285" y="5119047"/>
            <a:ext cx="11861838" cy="45719"/>
          </a:xfrm>
          <a:prstGeom prst="rect">
            <a:avLst/>
          </a:prstGeom>
          <a:solidFill>
            <a:srgbClr val="DCDCD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4" name="Rectangle 9">
            <a:extLst>
              <a:ext uri="{FF2B5EF4-FFF2-40B4-BE49-F238E27FC236}">
                <a16:creationId xmlns:a16="http://schemas.microsoft.com/office/drawing/2014/main" id="{8537B7BC-BD05-8293-1DCA-A0A2AD49D29D}"/>
              </a:ext>
            </a:extLst>
          </p:cNvPr>
          <p:cNvSpPr/>
          <p:nvPr/>
        </p:nvSpPr>
        <p:spPr>
          <a:xfrm flipV="1">
            <a:off x="4466285" y="6178387"/>
            <a:ext cx="11861838" cy="45719"/>
          </a:xfrm>
          <a:prstGeom prst="rect">
            <a:avLst/>
          </a:prstGeom>
          <a:solidFill>
            <a:srgbClr val="DCDCD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5" name="Rectangle 9">
            <a:extLst>
              <a:ext uri="{FF2B5EF4-FFF2-40B4-BE49-F238E27FC236}">
                <a16:creationId xmlns:a16="http://schemas.microsoft.com/office/drawing/2014/main" id="{9AAC36F2-60C9-193E-DF80-2C64A457198D}"/>
              </a:ext>
            </a:extLst>
          </p:cNvPr>
          <p:cNvSpPr/>
          <p:nvPr/>
        </p:nvSpPr>
        <p:spPr>
          <a:xfrm flipV="1">
            <a:off x="4466285" y="7427111"/>
            <a:ext cx="11861838" cy="45719"/>
          </a:xfrm>
          <a:prstGeom prst="rect">
            <a:avLst/>
          </a:prstGeom>
          <a:solidFill>
            <a:srgbClr val="DCDCD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9"/>
                </a:lnSpc>
              </a:pPr>
              <a:endParaRPr dirty="0">
                <a:latin typeface="KoPubWorld돋움체 Light" panose="00000300000000000000" pitchFamily="2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dirty="0">
                <a:latin typeface="KoPubWorld돋움체 Light" panose="00000300000000000000" pitchFamily="2" charset="-127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10084" y="4742829"/>
            <a:ext cx="2833916" cy="1391269"/>
            <a:chOff x="0" y="0"/>
            <a:chExt cx="2274726" cy="1841515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914975" cy="1841515"/>
              <a:chOff x="0" y="0"/>
              <a:chExt cx="378267" cy="36375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78267" cy="363756"/>
              </a:xfrm>
              <a:custGeom>
                <a:avLst/>
                <a:gdLst/>
                <a:ahLst/>
                <a:cxnLst/>
                <a:rect l="l" t="t" r="r" b="b"/>
                <a:pathLst>
                  <a:path w="378267" h="363756">
                    <a:moveTo>
                      <a:pt x="177885" y="0"/>
                    </a:moveTo>
                    <a:lnTo>
                      <a:pt x="200382" y="0"/>
                    </a:lnTo>
                    <a:cubicBezTo>
                      <a:pt x="298625" y="0"/>
                      <a:pt x="378267" y="79642"/>
                      <a:pt x="378267" y="177885"/>
                    </a:cubicBezTo>
                    <a:lnTo>
                      <a:pt x="378267" y="185871"/>
                    </a:lnTo>
                    <a:cubicBezTo>
                      <a:pt x="378267" y="233049"/>
                      <a:pt x="359525" y="278295"/>
                      <a:pt x="326165" y="311655"/>
                    </a:cubicBezTo>
                    <a:cubicBezTo>
                      <a:pt x="292806" y="345015"/>
                      <a:pt x="247560" y="363756"/>
                      <a:pt x="200382" y="363756"/>
                    </a:cubicBezTo>
                    <a:lnTo>
                      <a:pt x="177885" y="363756"/>
                    </a:lnTo>
                    <a:cubicBezTo>
                      <a:pt x="130707" y="363756"/>
                      <a:pt x="85461" y="345015"/>
                      <a:pt x="52101" y="311655"/>
                    </a:cubicBezTo>
                    <a:cubicBezTo>
                      <a:pt x="18741" y="278295"/>
                      <a:pt x="0" y="233049"/>
                      <a:pt x="0" y="185871"/>
                    </a:cubicBezTo>
                    <a:lnTo>
                      <a:pt x="0" y="177885"/>
                    </a:lnTo>
                    <a:cubicBezTo>
                      <a:pt x="0" y="130707"/>
                      <a:pt x="18741" y="85461"/>
                      <a:pt x="52101" y="52101"/>
                    </a:cubicBezTo>
                    <a:cubicBezTo>
                      <a:pt x="85461" y="18741"/>
                      <a:pt x="130707" y="0"/>
                      <a:pt x="177885" y="0"/>
                    </a:cubicBezTo>
                    <a:close/>
                  </a:path>
                </a:pathLst>
              </a:custGeom>
              <a:ln w="19050" cap="rnd">
                <a:solidFill>
                  <a:srgbClr val="FFC94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85725"/>
                <a:ext cx="378267" cy="449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87"/>
                  </a:lnSpc>
                </a:pPr>
                <a:endParaRPr>
                  <a:latin typeface="+mn-ea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555224" y="363849"/>
              <a:ext cx="719502" cy="1113816"/>
              <a:chOff x="0" y="0"/>
              <a:chExt cx="142124" cy="22001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2124" cy="220013"/>
              </a:xfrm>
              <a:custGeom>
                <a:avLst/>
                <a:gdLst/>
                <a:ahLst/>
                <a:cxnLst/>
                <a:rect l="l" t="t" r="r" b="b"/>
                <a:pathLst>
                  <a:path w="142124" h="220013">
                    <a:moveTo>
                      <a:pt x="0" y="0"/>
                    </a:moveTo>
                    <a:lnTo>
                      <a:pt x="142124" y="0"/>
                    </a:lnTo>
                    <a:lnTo>
                      <a:pt x="142124" y="220013"/>
                    </a:lnTo>
                    <a:lnTo>
                      <a:pt x="0" y="2200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85725"/>
                <a:ext cx="142124" cy="3057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87"/>
                  </a:lnSpc>
                </a:pPr>
                <a:endParaRPr>
                  <a:latin typeface="+mn-ea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7547728" y="4190257"/>
            <a:ext cx="3086100" cy="1248206"/>
            <a:chOff x="0" y="0"/>
            <a:chExt cx="812800" cy="277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277634"/>
            </a:xfrm>
            <a:custGeom>
              <a:avLst/>
              <a:gdLst/>
              <a:ahLst/>
              <a:cxnLst/>
              <a:rect l="l" t="t" r="r" b="b"/>
              <a:pathLst>
                <a:path w="812800" h="277634">
                  <a:moveTo>
                    <a:pt x="0" y="0"/>
                  </a:moveTo>
                  <a:lnTo>
                    <a:pt x="812800" y="0"/>
                  </a:lnTo>
                  <a:lnTo>
                    <a:pt x="812800" y="277634"/>
                  </a:lnTo>
                  <a:lnTo>
                    <a:pt x="0" y="277634"/>
                  </a:lnTo>
                  <a:close/>
                </a:path>
              </a:pathLst>
            </a:custGeom>
            <a:solidFill>
              <a:srgbClr val="FFC94A"/>
            </a:solidFill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812800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35649" y="5571694"/>
            <a:ext cx="3086100" cy="1248206"/>
            <a:chOff x="0" y="0"/>
            <a:chExt cx="812800" cy="27763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277634"/>
            </a:xfrm>
            <a:custGeom>
              <a:avLst/>
              <a:gdLst/>
              <a:ahLst/>
              <a:cxnLst/>
              <a:rect l="l" t="t" r="r" b="b"/>
              <a:pathLst>
                <a:path w="812800" h="277634">
                  <a:moveTo>
                    <a:pt x="0" y="0"/>
                  </a:moveTo>
                  <a:lnTo>
                    <a:pt x="812800" y="0"/>
                  </a:lnTo>
                  <a:lnTo>
                    <a:pt x="812800" y="277634"/>
                  </a:lnTo>
                  <a:lnTo>
                    <a:pt x="0" y="277634"/>
                  </a:lnTo>
                  <a:close/>
                </a:path>
              </a:pathLst>
            </a:custGeom>
            <a:solidFill>
              <a:srgbClr val="FFC94A"/>
            </a:solidFill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812800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40" name="AutoShape 40"/>
          <p:cNvSpPr/>
          <p:nvPr/>
        </p:nvSpPr>
        <p:spPr>
          <a:xfrm>
            <a:off x="5568697" y="5438463"/>
            <a:ext cx="741387" cy="0"/>
          </a:xfrm>
          <a:prstGeom prst="line">
            <a:avLst/>
          </a:prstGeom>
          <a:ln w="19050" cap="flat">
            <a:solidFill>
              <a:srgbClr val="FFC9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7432059" y="4639179"/>
            <a:ext cx="202121" cy="20212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3D"/>
            </a:solidFill>
            <a:ln w="38100" cap="sq">
              <a:solidFill>
                <a:srgbClr val="FDFDF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32059" y="6078466"/>
            <a:ext cx="202121" cy="202121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3D"/>
            </a:solidFill>
            <a:ln w="38100" cap="sq">
              <a:solidFill>
                <a:srgbClr val="FDFDF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47" name="Freeform 47"/>
          <p:cNvSpPr/>
          <p:nvPr/>
        </p:nvSpPr>
        <p:spPr>
          <a:xfrm>
            <a:off x="6934201" y="6902033"/>
            <a:ext cx="3858740" cy="3424632"/>
          </a:xfrm>
          <a:custGeom>
            <a:avLst/>
            <a:gdLst/>
            <a:ahLst/>
            <a:cxnLst/>
            <a:rect l="l" t="t" r="r" b="b"/>
            <a:pathLst>
              <a:path w="3883153" h="3446298">
                <a:moveTo>
                  <a:pt x="0" y="0"/>
                </a:moveTo>
                <a:lnTo>
                  <a:pt x="3883153" y="0"/>
                </a:lnTo>
                <a:lnTo>
                  <a:pt x="3883153" y="3446299"/>
                </a:lnTo>
                <a:lnTo>
                  <a:pt x="0" y="3446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7960201" y="5826465"/>
            <a:ext cx="226115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ko-KR" altLang="ko-KR" sz="2400" b="1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개인 맞춤 피드백의 한계</a:t>
            </a:r>
            <a:endParaRPr lang="en-US" sz="2400" b="1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0966222" y="5571694"/>
            <a:ext cx="4317404" cy="1248206"/>
            <a:chOff x="0" y="0"/>
            <a:chExt cx="2068572" cy="27763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68573" cy="277634"/>
            </a:xfrm>
            <a:custGeom>
              <a:avLst/>
              <a:gdLst/>
              <a:ahLst/>
              <a:cxnLst/>
              <a:rect l="l" t="t" r="r" b="b"/>
              <a:pathLst>
                <a:path w="2068573" h="277634">
                  <a:moveTo>
                    <a:pt x="0" y="0"/>
                  </a:moveTo>
                  <a:lnTo>
                    <a:pt x="2068573" y="0"/>
                  </a:lnTo>
                  <a:lnTo>
                    <a:pt x="2068573" y="277634"/>
                  </a:lnTo>
                  <a:lnTo>
                    <a:pt x="0" y="277634"/>
                  </a:lnTo>
                  <a:close/>
                </a:path>
              </a:pathLst>
            </a:custGeom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2068572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sz="1700">
                <a:latin typeface="+mn-ea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159225" y="5633525"/>
            <a:ext cx="3895515" cy="1067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획일적 질문 </a:t>
            </a:r>
            <a:endParaRPr lang="en-US" altLang="ko-KR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맞춤 분석</a:t>
            </a:r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한계</a:t>
            </a:r>
            <a:endParaRPr lang="en-US" altLang="ko-KR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개인별 피드백 </a:t>
            </a:r>
            <a:r>
              <a:rPr lang="ko-KR" altLang="en-US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미비</a:t>
            </a:r>
            <a:endParaRPr lang="en-US" sz="1700" spc="-73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905184" y="808541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8"/>
              </a:lnSpc>
              <a:spcBef>
                <a:spcPct val="0"/>
              </a:spcBef>
            </a:pPr>
            <a:r>
              <a:rPr lang="en-US" sz="2600" b="1" u="none" strike="noStrike" spc="-39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배경</a:t>
            </a:r>
            <a:r>
              <a:rPr lang="en-US" sz="2600" b="1" u="none" strike="noStrike" spc="-39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및 </a:t>
            </a:r>
            <a:r>
              <a:rPr lang="en-US" sz="2600" b="1" u="none" strike="noStrike" spc="-39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목적</a:t>
            </a:r>
            <a:endParaRPr lang="en-US" sz="2600" b="1" u="none" strike="noStrike" spc="-39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78545" y="869619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33261" y="2427548"/>
            <a:ext cx="11821479" cy="62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896"/>
              </a:lnSpc>
            </a:pPr>
            <a:r>
              <a:rPr lang="ko-KR" altLang="ko-KR" sz="36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왜 ‘</a:t>
            </a:r>
            <a:r>
              <a:rPr lang="ko-KR" altLang="ko-KR" sz="3600" b="1" dirty="0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꼬치꼬치 </a:t>
            </a:r>
            <a:r>
              <a:rPr lang="ko-KR" altLang="ko-KR" sz="3600" b="1" dirty="0" err="1">
                <a:solidFill>
                  <a:srgbClr val="C0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AI면접코칭</a:t>
            </a:r>
            <a:r>
              <a:rPr lang="ko-KR" altLang="ko-KR" sz="36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’이</a:t>
            </a:r>
            <a:r>
              <a:rPr lang="ko-KR" altLang="ko-KR" sz="36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필요한가?</a:t>
            </a:r>
            <a:endParaRPr lang="en-US" sz="3497" b="1" dirty="0">
              <a:solidFill>
                <a:srgbClr val="211F1C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62400" y="3127551"/>
            <a:ext cx="10363199" cy="292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2399"/>
              </a:lnSpc>
              <a:spcBef>
                <a:spcPct val="0"/>
              </a:spcBef>
            </a:pPr>
            <a:r>
              <a:rPr lang="ko-KR" altLang="ko-KR" sz="1600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</a:rPr>
              <a:t>취업 준비생이 가장 어려워하는 </a:t>
            </a:r>
            <a:r>
              <a:rPr lang="ko-KR" altLang="ko-KR" sz="1600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꼬리질문 대응</a:t>
            </a:r>
            <a:r>
              <a:rPr lang="ko-KR" altLang="ko-KR" sz="1600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</a:rPr>
              <a:t>을</a:t>
            </a:r>
            <a:r>
              <a:rPr lang="en-US" altLang="ko-KR" sz="1600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</a:rPr>
              <a:t> </a:t>
            </a:r>
            <a:r>
              <a:rPr lang="ko-KR" altLang="ko-KR" sz="1600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</a:rPr>
              <a:t>AI 기반 맞춤 면접 코칭으로 </a:t>
            </a:r>
            <a:r>
              <a:rPr lang="en-US" altLang="ko-KR" sz="1600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</a:rPr>
              <a:t>skill up!</a:t>
            </a:r>
            <a:endParaRPr lang="en-US" sz="1419" u="none" strike="noStrike" dirty="0">
              <a:solidFill>
                <a:srgbClr val="6A4A2F"/>
              </a:solidFill>
              <a:latin typeface="+mn-ea"/>
              <a:cs typeface="Noto Sans Kr"/>
              <a:sym typeface="Noto Sans Kr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36CBC63-DB2C-C4E5-520F-43AAF2491980}"/>
              </a:ext>
            </a:extLst>
          </p:cNvPr>
          <p:cNvGrpSpPr/>
          <p:nvPr/>
        </p:nvGrpSpPr>
        <p:grpSpPr>
          <a:xfrm>
            <a:off x="1805150" y="4305659"/>
            <a:ext cx="3780230" cy="2265608"/>
            <a:chOff x="1782370" y="4325692"/>
            <a:chExt cx="3780230" cy="2265608"/>
          </a:xfrm>
        </p:grpSpPr>
        <p:grpSp>
          <p:nvGrpSpPr>
            <p:cNvPr id="18" name="Group 18"/>
            <p:cNvGrpSpPr/>
            <p:nvPr/>
          </p:nvGrpSpPr>
          <p:grpSpPr>
            <a:xfrm>
              <a:off x="1782370" y="4325692"/>
              <a:ext cx="3780230" cy="2265608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8A3D"/>
              </a:solidFill>
            </p:spPr>
            <p:txBody>
              <a:bodyPr/>
              <a:lstStyle/>
              <a:p>
                <a:endParaRPr lang="ko-KR" altLang="en-US" dirty="0"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87"/>
                  </a:lnSpc>
                </a:pPr>
                <a:endParaRPr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endParaRPr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2119606" y="5228505"/>
              <a:ext cx="3021202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637"/>
                </a:lnSpc>
              </a:pPr>
              <a:r>
                <a:rPr lang="en-US" sz="2598" b="1" dirty="0" err="1">
                  <a:solidFill>
                    <a:srgbClr val="FDFDFB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Bold"/>
                </a:rPr>
                <a:t>프로젝트</a:t>
              </a:r>
              <a:r>
                <a:rPr lang="en-US" sz="2598" b="1" dirty="0">
                  <a:solidFill>
                    <a:srgbClr val="FDFDFB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Bold"/>
                </a:rPr>
                <a:t> </a:t>
              </a:r>
              <a:r>
                <a:rPr lang="en-US" sz="2598" b="1" dirty="0" err="1">
                  <a:solidFill>
                    <a:srgbClr val="FDFDFB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  <a:sym typeface="Noto Sans Kr Bold"/>
                </a:rPr>
                <a:t>배경</a:t>
              </a:r>
              <a:endParaRPr lang="en-US" sz="25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8045478" y="4471968"/>
            <a:ext cx="205170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240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꼬리질문</a:t>
            </a:r>
            <a:r>
              <a:rPr lang="en-US" sz="240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lang="en-US" sz="240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대응</a:t>
            </a:r>
            <a:r>
              <a:rPr lang="en-US" sz="240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</a:p>
          <a:p>
            <a:pPr marL="0" lvl="0" indent="0" algn="ctr"/>
            <a:r>
              <a:rPr lang="en-US" sz="240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역량</a:t>
            </a:r>
            <a:r>
              <a:rPr lang="en-US" sz="240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lang="en-US" sz="240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강화</a:t>
            </a:r>
            <a:endParaRPr lang="en-US" sz="2400" b="1" dirty="0">
              <a:solidFill>
                <a:srgbClr val="FDFDF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0971564" y="4179013"/>
            <a:ext cx="4317404" cy="1248206"/>
            <a:chOff x="0" y="0"/>
            <a:chExt cx="2068572" cy="2776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68573" cy="277634"/>
            </a:xfrm>
            <a:custGeom>
              <a:avLst/>
              <a:gdLst/>
              <a:ahLst/>
              <a:cxnLst/>
              <a:rect l="l" t="t" r="r" b="b"/>
              <a:pathLst>
                <a:path w="2068573" h="277634">
                  <a:moveTo>
                    <a:pt x="0" y="0"/>
                  </a:moveTo>
                  <a:lnTo>
                    <a:pt x="2068573" y="0"/>
                  </a:lnTo>
                  <a:lnTo>
                    <a:pt x="2068573" y="277634"/>
                  </a:lnTo>
                  <a:lnTo>
                    <a:pt x="0" y="277634"/>
                  </a:lnTo>
                  <a:close/>
                </a:path>
              </a:pathLst>
            </a:custGeom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068572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sz="1700">
                <a:latin typeface="+mn-ea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1F2FCEE-7516-D7C8-61B4-D1E49703ED1C}"/>
              </a:ext>
            </a:extLst>
          </p:cNvPr>
          <p:cNvSpPr txBox="1"/>
          <p:nvPr/>
        </p:nvSpPr>
        <p:spPr>
          <a:xfrm>
            <a:off x="11064075" y="4221651"/>
            <a:ext cx="3514338" cy="116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돌발 질문 대응 미흡 </a:t>
            </a:r>
            <a:endParaRPr lang="en-US" altLang="ko-KR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실전 연습 미흡 </a:t>
            </a:r>
            <a:endParaRPr lang="en-US" altLang="ko-KR" sz="16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압박 면접 경험 부족</a:t>
            </a:r>
            <a:endParaRPr lang="en-US" altLang="ko-KR" sz="1700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9C98D-5B3F-6685-398D-A55CFBB48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C41333-E7BD-6A2C-23F8-44F59826548A}"/>
              </a:ext>
            </a:extLst>
          </p:cNvPr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721AD3-6453-2632-2A86-D8DF03EF1DBE}"/>
                </a:ext>
              </a:extLst>
            </p:cNvPr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2837BE-37CF-0EA8-E9C7-2BEBDD231210}"/>
                </a:ext>
              </a:extLst>
            </p:cNvPr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9"/>
                </a:lnSpc>
              </a:pPr>
              <a:endParaRPr dirty="0">
                <a:latin typeface="KoPubWorld돋움체 Light" panose="00000300000000000000" pitchFamily="2" charset="-127"/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4245EF9E-042F-87BF-BCF8-B36AEDEEA4B6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39BB060-E32A-0B9E-7567-6841F7E030B9}"/>
              </a:ext>
            </a:extLst>
          </p:cNvPr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F1FF7B1-EE37-A45C-4DB6-CB0717BE46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EBA109-BD74-CD20-C02E-86CC9FDB21D6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AC2A91A-55E6-568D-875B-30D128CFEDDD}"/>
              </a:ext>
            </a:extLst>
          </p:cNvPr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13E9648-1FFB-3472-8952-7D3B5E35B4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810AF753-A7BF-DB29-2A5D-DED2261A8D3F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0548A63-5E6B-B6E5-552E-4D203CD0F621}"/>
              </a:ext>
            </a:extLst>
          </p:cNvPr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7F34E61-04DF-DF41-5CBF-40946B40B9E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EE37DEC-1527-1464-1631-7B85A0D77E46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B420F3C-AA24-6D1F-C87E-628D0D53FE1B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48B0FAA3-FCA0-2D32-CD0C-970D027D0404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AFA5F24-7EF2-1109-7664-123FE1260F63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51" name="TextBox 51">
            <a:extLst>
              <a:ext uri="{FF2B5EF4-FFF2-40B4-BE49-F238E27FC236}">
                <a16:creationId xmlns:a16="http://schemas.microsoft.com/office/drawing/2014/main" id="{16E4B811-AE7C-744A-C9F4-DFB8341A0ECC}"/>
              </a:ext>
            </a:extLst>
          </p:cNvPr>
          <p:cNvSpPr txBox="1"/>
          <p:nvPr/>
        </p:nvSpPr>
        <p:spPr>
          <a:xfrm>
            <a:off x="1942989" y="775454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8"/>
              </a:lnSpc>
              <a:spcBef>
                <a:spcPct val="0"/>
              </a:spcBef>
            </a:pPr>
            <a:r>
              <a:rPr lang="ko-KR" altLang="en-US" sz="2600" b="1" u="none" strike="noStrike" spc="-39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역할 분담</a:t>
            </a:r>
            <a:endParaRPr lang="en-US" sz="2600" b="1" u="none" strike="noStrike" spc="-39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FDC46F0-3ABC-E9BB-8515-006E4D3E1B2A}"/>
              </a:ext>
            </a:extLst>
          </p:cNvPr>
          <p:cNvSpPr txBox="1"/>
          <p:nvPr/>
        </p:nvSpPr>
        <p:spPr>
          <a:xfrm>
            <a:off x="878545" y="866413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01</a:t>
            </a:r>
          </a:p>
        </p:txBody>
      </p:sp>
      <p:grpSp>
        <p:nvGrpSpPr>
          <p:cNvPr id="164" name="Group 23">
            <a:extLst>
              <a:ext uri="{FF2B5EF4-FFF2-40B4-BE49-F238E27FC236}">
                <a16:creationId xmlns:a16="http://schemas.microsoft.com/office/drawing/2014/main" id="{FAFB8F69-5D71-0207-4A51-4AF08B86ED4F}"/>
              </a:ext>
            </a:extLst>
          </p:cNvPr>
          <p:cNvGrpSpPr/>
          <p:nvPr/>
        </p:nvGrpSpPr>
        <p:grpSpPr>
          <a:xfrm>
            <a:off x="1905000" y="3695700"/>
            <a:ext cx="2667000" cy="3238500"/>
            <a:chOff x="0" y="0"/>
            <a:chExt cx="3556000" cy="4318000"/>
          </a:xfrm>
        </p:grpSpPr>
        <p:sp>
          <p:nvSpPr>
            <p:cNvPr id="165" name="Freeform 24">
              <a:extLst>
                <a:ext uri="{FF2B5EF4-FFF2-40B4-BE49-F238E27FC236}">
                  <a16:creationId xmlns:a16="http://schemas.microsoft.com/office/drawing/2014/main" id="{2A72DC5C-52A1-2177-8377-2D7DCBC434C5}"/>
                </a:ext>
              </a:extLst>
            </p:cNvPr>
            <p:cNvSpPr/>
            <p:nvPr/>
          </p:nvSpPr>
          <p:spPr>
            <a:xfrm>
              <a:off x="0" y="0"/>
              <a:ext cx="3556000" cy="4318000"/>
            </a:xfrm>
            <a:custGeom>
              <a:avLst/>
              <a:gdLst/>
              <a:ahLst/>
              <a:cxnLst/>
              <a:rect l="l" t="t" r="r" b="b"/>
              <a:pathLst>
                <a:path w="3556000" h="4318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962400"/>
                  </a:lnTo>
                  <a:cubicBezTo>
                    <a:pt x="3556000" y="4158792"/>
                    <a:pt x="3396792" y="4318000"/>
                    <a:pt x="3200400" y="4318000"/>
                  </a:cubicBezTo>
                  <a:lnTo>
                    <a:pt x="355600" y="4318000"/>
                  </a:lnTo>
                  <a:cubicBezTo>
                    <a:pt x="159208" y="4318000"/>
                    <a:pt x="0" y="4158792"/>
                    <a:pt x="0" y="3962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66" name="TextBox 25">
              <a:extLst>
                <a:ext uri="{FF2B5EF4-FFF2-40B4-BE49-F238E27FC236}">
                  <a16:creationId xmlns:a16="http://schemas.microsoft.com/office/drawing/2014/main" id="{F274A4E2-4A1F-5062-E982-60F7FCF5F4EA}"/>
                </a:ext>
              </a:extLst>
            </p:cNvPr>
            <p:cNvSpPr txBox="1"/>
            <p:nvPr/>
          </p:nvSpPr>
          <p:spPr>
            <a:xfrm>
              <a:off x="0" y="-38100"/>
              <a:ext cx="3556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grpSp>
        <p:nvGrpSpPr>
          <p:cNvPr id="167" name="Group 26">
            <a:extLst>
              <a:ext uri="{FF2B5EF4-FFF2-40B4-BE49-F238E27FC236}">
                <a16:creationId xmlns:a16="http://schemas.microsoft.com/office/drawing/2014/main" id="{137AFC64-FBD5-A793-B6E0-7F36A196A9D2}"/>
              </a:ext>
            </a:extLst>
          </p:cNvPr>
          <p:cNvGrpSpPr/>
          <p:nvPr/>
        </p:nvGrpSpPr>
        <p:grpSpPr>
          <a:xfrm>
            <a:off x="2762250" y="3886200"/>
            <a:ext cx="952500" cy="952500"/>
            <a:chOff x="0" y="0"/>
            <a:chExt cx="1270000" cy="1270000"/>
          </a:xfrm>
        </p:grpSpPr>
        <p:sp>
          <p:nvSpPr>
            <p:cNvPr id="168" name="Freeform 27">
              <a:extLst>
                <a:ext uri="{FF2B5EF4-FFF2-40B4-BE49-F238E27FC236}">
                  <a16:creationId xmlns:a16="http://schemas.microsoft.com/office/drawing/2014/main" id="{E892AF93-3A56-813E-7D37-BDC8B098E3FD}"/>
                </a:ext>
              </a:extLst>
            </p:cNvPr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635000" y="0"/>
                  </a:moveTo>
                  <a:cubicBezTo>
                    <a:pt x="284299" y="0"/>
                    <a:pt x="0" y="284299"/>
                    <a:pt x="0" y="635000"/>
                  </a:cubicBezTo>
                  <a:cubicBezTo>
                    <a:pt x="0" y="985701"/>
                    <a:pt x="284299" y="1270000"/>
                    <a:pt x="635000" y="1270000"/>
                  </a:cubicBezTo>
                  <a:cubicBezTo>
                    <a:pt x="985701" y="1270000"/>
                    <a:pt x="1270000" y="985701"/>
                    <a:pt x="1270000" y="635000"/>
                  </a:cubicBezTo>
                  <a:cubicBezTo>
                    <a:pt x="1270000" y="284299"/>
                    <a:pt x="985701" y="0"/>
                    <a:pt x="635000" y="0"/>
                  </a:cubicBezTo>
                  <a:close/>
                </a:path>
              </a:pathLst>
            </a:custGeom>
            <a:solidFill>
              <a:srgbClr val="F8EEDB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69" name="TextBox 28">
              <a:extLst>
                <a:ext uri="{FF2B5EF4-FFF2-40B4-BE49-F238E27FC236}">
                  <a16:creationId xmlns:a16="http://schemas.microsoft.com/office/drawing/2014/main" id="{434EC5FD-C407-A9FB-2363-4730AD4D01E3}"/>
                </a:ext>
              </a:extLst>
            </p:cNvPr>
            <p:cNvSpPr txBox="1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sp>
        <p:nvSpPr>
          <p:cNvPr id="170" name="TextBox 29">
            <a:extLst>
              <a:ext uri="{FF2B5EF4-FFF2-40B4-BE49-F238E27FC236}">
                <a16:creationId xmlns:a16="http://schemas.microsoft.com/office/drawing/2014/main" id="{03B07A7A-F531-64AF-39CE-8FAFC52BC3A9}"/>
              </a:ext>
            </a:extLst>
          </p:cNvPr>
          <p:cNvSpPr txBox="1"/>
          <p:nvPr/>
        </p:nvSpPr>
        <p:spPr>
          <a:xfrm>
            <a:off x="2029264" y="5000625"/>
            <a:ext cx="2476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ko-KR" altLang="en-US" sz="1599" b="1" u="none" strike="noStrike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송현화</a:t>
            </a:r>
            <a:endParaRPr lang="en-US" sz="1599" b="1" u="none" strike="noStrike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171" name="TextBox 30">
            <a:extLst>
              <a:ext uri="{FF2B5EF4-FFF2-40B4-BE49-F238E27FC236}">
                <a16:creationId xmlns:a16="http://schemas.microsoft.com/office/drawing/2014/main" id="{C09131B3-F0D4-8C97-3E77-172C83F90AEE}"/>
              </a:ext>
            </a:extLst>
          </p:cNvPr>
          <p:cNvSpPr txBox="1"/>
          <p:nvPr/>
        </p:nvSpPr>
        <p:spPr>
          <a:xfrm>
            <a:off x="2029264" y="5343525"/>
            <a:ext cx="24765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ko-KR" altLang="en-US" sz="1200" b="1" u="none" strike="noStrike" dirty="0">
                <a:solidFill>
                  <a:srgbClr val="FF8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팀장</a:t>
            </a:r>
            <a:endParaRPr lang="en-US" sz="1200" b="1" u="none" strike="noStrike" dirty="0">
              <a:solidFill>
                <a:srgbClr val="FF8A3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172" name="TextBox 31">
            <a:extLst>
              <a:ext uri="{FF2B5EF4-FFF2-40B4-BE49-F238E27FC236}">
                <a16:creationId xmlns:a16="http://schemas.microsoft.com/office/drawing/2014/main" id="{11BEC36B-4551-0E8E-C856-971068327B45}"/>
              </a:ext>
            </a:extLst>
          </p:cNvPr>
          <p:cNvSpPr txBox="1"/>
          <p:nvPr/>
        </p:nvSpPr>
        <p:spPr>
          <a:xfrm>
            <a:off x="2095500" y="5657850"/>
            <a:ext cx="2286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60"/>
              </a:lnSpc>
              <a:spcBef>
                <a:spcPct val="0"/>
              </a:spcBef>
            </a:pP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프로젝트 기획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0" lvl="0" indent="0" algn="ctr">
              <a:lnSpc>
                <a:spcPts val="176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DB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구축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0" lvl="0" indent="0" algn="ctr">
              <a:lnSpc>
                <a:spcPts val="1760"/>
              </a:lnSpc>
              <a:spcBef>
                <a:spcPct val="0"/>
              </a:spcBef>
            </a:pP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웹 구현 및 시스템 연동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0" lvl="0" indent="0" algn="ctr">
              <a:lnSpc>
                <a:spcPts val="176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RAG 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시스템 최적화</a:t>
            </a:r>
            <a:endParaRPr lang="en-US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grpSp>
        <p:nvGrpSpPr>
          <p:cNvPr id="173" name="Group 32">
            <a:extLst>
              <a:ext uri="{FF2B5EF4-FFF2-40B4-BE49-F238E27FC236}">
                <a16:creationId xmlns:a16="http://schemas.microsoft.com/office/drawing/2014/main" id="{A91B794D-FA0C-1D72-8ACE-CD6C56CB9D5A}"/>
              </a:ext>
            </a:extLst>
          </p:cNvPr>
          <p:cNvGrpSpPr/>
          <p:nvPr/>
        </p:nvGrpSpPr>
        <p:grpSpPr>
          <a:xfrm>
            <a:off x="4857750" y="3695700"/>
            <a:ext cx="2667000" cy="3238500"/>
            <a:chOff x="0" y="0"/>
            <a:chExt cx="3556000" cy="4318000"/>
          </a:xfrm>
        </p:grpSpPr>
        <p:sp>
          <p:nvSpPr>
            <p:cNvPr id="174" name="Freeform 33">
              <a:extLst>
                <a:ext uri="{FF2B5EF4-FFF2-40B4-BE49-F238E27FC236}">
                  <a16:creationId xmlns:a16="http://schemas.microsoft.com/office/drawing/2014/main" id="{BE054447-56F1-6DD1-C42F-F511403ED08E}"/>
                </a:ext>
              </a:extLst>
            </p:cNvPr>
            <p:cNvSpPr/>
            <p:nvPr/>
          </p:nvSpPr>
          <p:spPr>
            <a:xfrm>
              <a:off x="0" y="0"/>
              <a:ext cx="3556000" cy="4318000"/>
            </a:xfrm>
            <a:custGeom>
              <a:avLst/>
              <a:gdLst/>
              <a:ahLst/>
              <a:cxnLst/>
              <a:rect l="l" t="t" r="r" b="b"/>
              <a:pathLst>
                <a:path w="3556000" h="4318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962400"/>
                  </a:lnTo>
                  <a:cubicBezTo>
                    <a:pt x="3556000" y="4158792"/>
                    <a:pt x="3396792" y="4318000"/>
                    <a:pt x="3200400" y="4318000"/>
                  </a:cubicBezTo>
                  <a:lnTo>
                    <a:pt x="355600" y="4318000"/>
                  </a:lnTo>
                  <a:cubicBezTo>
                    <a:pt x="159208" y="4318000"/>
                    <a:pt x="0" y="4158792"/>
                    <a:pt x="0" y="3962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5" name="TextBox 34">
              <a:extLst>
                <a:ext uri="{FF2B5EF4-FFF2-40B4-BE49-F238E27FC236}">
                  <a16:creationId xmlns:a16="http://schemas.microsoft.com/office/drawing/2014/main" id="{7193A3F5-2231-BFA4-B5F7-B243619D8287}"/>
                </a:ext>
              </a:extLst>
            </p:cNvPr>
            <p:cNvSpPr txBox="1"/>
            <p:nvPr/>
          </p:nvSpPr>
          <p:spPr>
            <a:xfrm>
              <a:off x="0" y="-38100"/>
              <a:ext cx="3556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grpSp>
        <p:nvGrpSpPr>
          <p:cNvPr id="176" name="Group 35">
            <a:extLst>
              <a:ext uri="{FF2B5EF4-FFF2-40B4-BE49-F238E27FC236}">
                <a16:creationId xmlns:a16="http://schemas.microsoft.com/office/drawing/2014/main" id="{3E2127C6-DD5F-D4EA-147A-1D147F3DBF84}"/>
              </a:ext>
            </a:extLst>
          </p:cNvPr>
          <p:cNvGrpSpPr/>
          <p:nvPr/>
        </p:nvGrpSpPr>
        <p:grpSpPr>
          <a:xfrm>
            <a:off x="5715000" y="3886200"/>
            <a:ext cx="952500" cy="952500"/>
            <a:chOff x="0" y="0"/>
            <a:chExt cx="1270000" cy="1270000"/>
          </a:xfrm>
        </p:grpSpPr>
        <p:sp>
          <p:nvSpPr>
            <p:cNvPr id="177" name="Freeform 36">
              <a:extLst>
                <a:ext uri="{FF2B5EF4-FFF2-40B4-BE49-F238E27FC236}">
                  <a16:creationId xmlns:a16="http://schemas.microsoft.com/office/drawing/2014/main" id="{A7269B1E-1209-4368-5C3E-DE700787ECF1}"/>
                </a:ext>
              </a:extLst>
            </p:cNvPr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635000" y="0"/>
                  </a:moveTo>
                  <a:cubicBezTo>
                    <a:pt x="284299" y="0"/>
                    <a:pt x="0" y="284299"/>
                    <a:pt x="0" y="635000"/>
                  </a:cubicBezTo>
                  <a:cubicBezTo>
                    <a:pt x="0" y="985701"/>
                    <a:pt x="284299" y="1270000"/>
                    <a:pt x="635000" y="1270000"/>
                  </a:cubicBezTo>
                  <a:cubicBezTo>
                    <a:pt x="985701" y="1270000"/>
                    <a:pt x="1270000" y="985701"/>
                    <a:pt x="1270000" y="635000"/>
                  </a:cubicBezTo>
                  <a:cubicBezTo>
                    <a:pt x="1270000" y="284299"/>
                    <a:pt x="985701" y="0"/>
                    <a:pt x="635000" y="0"/>
                  </a:cubicBezTo>
                  <a:close/>
                </a:path>
              </a:pathLst>
            </a:custGeom>
            <a:solidFill>
              <a:srgbClr val="F8EEDB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8" name="TextBox 37">
              <a:extLst>
                <a:ext uri="{FF2B5EF4-FFF2-40B4-BE49-F238E27FC236}">
                  <a16:creationId xmlns:a16="http://schemas.microsoft.com/office/drawing/2014/main" id="{A0FF68BD-A32D-402A-96D0-B14F31B53C75}"/>
                </a:ext>
              </a:extLst>
            </p:cNvPr>
            <p:cNvSpPr txBox="1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sp>
        <p:nvSpPr>
          <p:cNvPr id="179" name="TextBox 38">
            <a:extLst>
              <a:ext uri="{FF2B5EF4-FFF2-40B4-BE49-F238E27FC236}">
                <a16:creationId xmlns:a16="http://schemas.microsoft.com/office/drawing/2014/main" id="{470E10DB-F487-5B9E-38F8-F79A0FD2EEB4}"/>
              </a:ext>
            </a:extLst>
          </p:cNvPr>
          <p:cNvSpPr txBox="1"/>
          <p:nvPr/>
        </p:nvSpPr>
        <p:spPr>
          <a:xfrm>
            <a:off x="4982014" y="5000625"/>
            <a:ext cx="2476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ko-KR" altLang="en-US" sz="1599" b="1" u="none" strike="noStrike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황준하</a:t>
            </a:r>
            <a:endParaRPr lang="en-US" sz="1599" b="1" u="none" strike="noStrike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181" name="TextBox 40">
            <a:extLst>
              <a:ext uri="{FF2B5EF4-FFF2-40B4-BE49-F238E27FC236}">
                <a16:creationId xmlns:a16="http://schemas.microsoft.com/office/drawing/2014/main" id="{E1E12E91-DA47-56E0-668F-18D886097469}"/>
              </a:ext>
            </a:extLst>
          </p:cNvPr>
          <p:cNvSpPr txBox="1"/>
          <p:nvPr/>
        </p:nvSpPr>
        <p:spPr>
          <a:xfrm>
            <a:off x="5048250" y="5657850"/>
            <a:ext cx="22860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60"/>
              </a:lnSpc>
              <a:spcBef>
                <a:spcPct val="0"/>
              </a:spcBef>
            </a:pPr>
            <a:r>
              <a:rPr lang="ko-KR" altLang="en-US" sz="1400" b="1" u="none" strike="noStrike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프론트엔드</a:t>
            </a:r>
            <a:r>
              <a:rPr lang="ko-KR" altLang="en-US" sz="1400" b="1" u="none" strike="noStrike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개발</a:t>
            </a:r>
            <a:endParaRPr lang="en-US" sz="1400" b="1" u="none" strike="noStrike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0" lvl="0" indent="0" algn="ctr">
              <a:lnSpc>
                <a:spcPts val="1760"/>
              </a:lnSpc>
              <a:spcBef>
                <a:spcPct val="0"/>
              </a:spcBef>
            </a:pPr>
            <a:r>
              <a:rPr lang="en-US" sz="1400" b="1" u="none" strike="noStrike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AI </a:t>
            </a:r>
            <a:r>
              <a:rPr lang="ko-KR" altLang="en-US" sz="1400" b="1" u="none" strike="noStrike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모델 및 데이터 처리</a:t>
            </a:r>
            <a:endParaRPr lang="en-US" sz="1400" b="1" u="none" strike="noStrike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grpSp>
        <p:nvGrpSpPr>
          <p:cNvPr id="182" name="Group 41">
            <a:extLst>
              <a:ext uri="{FF2B5EF4-FFF2-40B4-BE49-F238E27FC236}">
                <a16:creationId xmlns:a16="http://schemas.microsoft.com/office/drawing/2014/main" id="{075CB878-BDBD-B8E1-C90B-C091A775F9AC}"/>
              </a:ext>
            </a:extLst>
          </p:cNvPr>
          <p:cNvGrpSpPr/>
          <p:nvPr/>
        </p:nvGrpSpPr>
        <p:grpSpPr>
          <a:xfrm>
            <a:off x="7810500" y="3695700"/>
            <a:ext cx="2667000" cy="3238500"/>
            <a:chOff x="0" y="0"/>
            <a:chExt cx="3556000" cy="4318000"/>
          </a:xfrm>
        </p:grpSpPr>
        <p:sp>
          <p:nvSpPr>
            <p:cNvPr id="183" name="Freeform 42">
              <a:extLst>
                <a:ext uri="{FF2B5EF4-FFF2-40B4-BE49-F238E27FC236}">
                  <a16:creationId xmlns:a16="http://schemas.microsoft.com/office/drawing/2014/main" id="{5D94AC28-A5EE-0FBE-4EFE-886364F487C5}"/>
                </a:ext>
              </a:extLst>
            </p:cNvPr>
            <p:cNvSpPr/>
            <p:nvPr/>
          </p:nvSpPr>
          <p:spPr>
            <a:xfrm>
              <a:off x="0" y="0"/>
              <a:ext cx="3556000" cy="4318000"/>
            </a:xfrm>
            <a:custGeom>
              <a:avLst/>
              <a:gdLst/>
              <a:ahLst/>
              <a:cxnLst/>
              <a:rect l="l" t="t" r="r" b="b"/>
              <a:pathLst>
                <a:path w="3556000" h="4318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962400"/>
                  </a:lnTo>
                  <a:cubicBezTo>
                    <a:pt x="3556000" y="4158792"/>
                    <a:pt x="3396792" y="4318000"/>
                    <a:pt x="3200400" y="4318000"/>
                  </a:cubicBezTo>
                  <a:lnTo>
                    <a:pt x="355600" y="4318000"/>
                  </a:lnTo>
                  <a:cubicBezTo>
                    <a:pt x="159208" y="4318000"/>
                    <a:pt x="0" y="4158792"/>
                    <a:pt x="0" y="3962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84" name="TextBox 43">
              <a:extLst>
                <a:ext uri="{FF2B5EF4-FFF2-40B4-BE49-F238E27FC236}">
                  <a16:creationId xmlns:a16="http://schemas.microsoft.com/office/drawing/2014/main" id="{88F1AA4B-EFCC-2F9A-2D17-C547D2DC3CCB}"/>
                </a:ext>
              </a:extLst>
            </p:cNvPr>
            <p:cNvSpPr txBox="1"/>
            <p:nvPr/>
          </p:nvSpPr>
          <p:spPr>
            <a:xfrm>
              <a:off x="0" y="-38100"/>
              <a:ext cx="3556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grpSp>
        <p:nvGrpSpPr>
          <p:cNvPr id="185" name="Group 44">
            <a:extLst>
              <a:ext uri="{FF2B5EF4-FFF2-40B4-BE49-F238E27FC236}">
                <a16:creationId xmlns:a16="http://schemas.microsoft.com/office/drawing/2014/main" id="{8AEFC393-EE06-E93C-FF96-82C4F3F778CB}"/>
              </a:ext>
            </a:extLst>
          </p:cNvPr>
          <p:cNvGrpSpPr/>
          <p:nvPr/>
        </p:nvGrpSpPr>
        <p:grpSpPr>
          <a:xfrm>
            <a:off x="8667750" y="3886200"/>
            <a:ext cx="952500" cy="952500"/>
            <a:chOff x="0" y="0"/>
            <a:chExt cx="1270000" cy="1270000"/>
          </a:xfrm>
        </p:grpSpPr>
        <p:sp>
          <p:nvSpPr>
            <p:cNvPr id="186" name="Freeform 45">
              <a:extLst>
                <a:ext uri="{FF2B5EF4-FFF2-40B4-BE49-F238E27FC236}">
                  <a16:creationId xmlns:a16="http://schemas.microsoft.com/office/drawing/2014/main" id="{51CDCC6A-2AF4-9669-7D10-269263C02F28}"/>
                </a:ext>
              </a:extLst>
            </p:cNvPr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635000" y="0"/>
                  </a:moveTo>
                  <a:cubicBezTo>
                    <a:pt x="284299" y="0"/>
                    <a:pt x="0" y="284299"/>
                    <a:pt x="0" y="635000"/>
                  </a:cubicBezTo>
                  <a:cubicBezTo>
                    <a:pt x="0" y="985701"/>
                    <a:pt x="284299" y="1270000"/>
                    <a:pt x="635000" y="1270000"/>
                  </a:cubicBezTo>
                  <a:cubicBezTo>
                    <a:pt x="985701" y="1270000"/>
                    <a:pt x="1270000" y="985701"/>
                    <a:pt x="1270000" y="635000"/>
                  </a:cubicBezTo>
                  <a:cubicBezTo>
                    <a:pt x="1270000" y="284299"/>
                    <a:pt x="985701" y="0"/>
                    <a:pt x="635000" y="0"/>
                  </a:cubicBezTo>
                  <a:close/>
                </a:path>
              </a:pathLst>
            </a:custGeom>
            <a:solidFill>
              <a:srgbClr val="F8EEDB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87" name="TextBox 46">
              <a:extLst>
                <a:ext uri="{FF2B5EF4-FFF2-40B4-BE49-F238E27FC236}">
                  <a16:creationId xmlns:a16="http://schemas.microsoft.com/office/drawing/2014/main" id="{AFF319D3-D118-FE9D-4E38-C10B6A4DFA7E}"/>
                </a:ext>
              </a:extLst>
            </p:cNvPr>
            <p:cNvSpPr txBox="1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sp>
        <p:nvSpPr>
          <p:cNvPr id="188" name="TextBox 47">
            <a:extLst>
              <a:ext uri="{FF2B5EF4-FFF2-40B4-BE49-F238E27FC236}">
                <a16:creationId xmlns:a16="http://schemas.microsoft.com/office/drawing/2014/main" id="{8627704B-A28C-5EFF-94FA-7BF578918836}"/>
              </a:ext>
            </a:extLst>
          </p:cNvPr>
          <p:cNvSpPr txBox="1"/>
          <p:nvPr/>
        </p:nvSpPr>
        <p:spPr>
          <a:xfrm>
            <a:off x="7934764" y="5000625"/>
            <a:ext cx="2476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ko-KR" altLang="en-US" sz="1599" b="1" u="none" strike="noStrike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손주용</a:t>
            </a:r>
            <a:endParaRPr lang="en-US" sz="1599" b="1" u="none" strike="noStrike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190" name="TextBox 49">
            <a:extLst>
              <a:ext uri="{FF2B5EF4-FFF2-40B4-BE49-F238E27FC236}">
                <a16:creationId xmlns:a16="http://schemas.microsoft.com/office/drawing/2014/main" id="{E51EC2BD-E6BC-B121-262A-E892DA9E77CA}"/>
              </a:ext>
            </a:extLst>
          </p:cNvPr>
          <p:cNvSpPr txBox="1"/>
          <p:nvPr/>
        </p:nvSpPr>
        <p:spPr>
          <a:xfrm>
            <a:off x="8001000" y="5657850"/>
            <a:ext cx="228600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AI 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모델 및 데이터 처리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TTS/STT 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기능 구현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RAG 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시스템 구축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grpSp>
        <p:nvGrpSpPr>
          <p:cNvPr id="191" name="Group 50">
            <a:extLst>
              <a:ext uri="{FF2B5EF4-FFF2-40B4-BE49-F238E27FC236}">
                <a16:creationId xmlns:a16="http://schemas.microsoft.com/office/drawing/2014/main" id="{5A7D17A5-AA48-5AD1-E2CC-C1ABB224C52A}"/>
              </a:ext>
            </a:extLst>
          </p:cNvPr>
          <p:cNvGrpSpPr/>
          <p:nvPr/>
        </p:nvGrpSpPr>
        <p:grpSpPr>
          <a:xfrm>
            <a:off x="10763250" y="3695700"/>
            <a:ext cx="2667000" cy="3238500"/>
            <a:chOff x="0" y="0"/>
            <a:chExt cx="3556000" cy="4318000"/>
          </a:xfrm>
        </p:grpSpPr>
        <p:sp>
          <p:nvSpPr>
            <p:cNvPr id="192" name="Freeform 51">
              <a:extLst>
                <a:ext uri="{FF2B5EF4-FFF2-40B4-BE49-F238E27FC236}">
                  <a16:creationId xmlns:a16="http://schemas.microsoft.com/office/drawing/2014/main" id="{48D79E11-1419-27E7-9820-BC93C13E6142}"/>
                </a:ext>
              </a:extLst>
            </p:cNvPr>
            <p:cNvSpPr/>
            <p:nvPr/>
          </p:nvSpPr>
          <p:spPr>
            <a:xfrm>
              <a:off x="0" y="0"/>
              <a:ext cx="3556000" cy="4318000"/>
            </a:xfrm>
            <a:custGeom>
              <a:avLst/>
              <a:gdLst/>
              <a:ahLst/>
              <a:cxnLst/>
              <a:rect l="l" t="t" r="r" b="b"/>
              <a:pathLst>
                <a:path w="3556000" h="4318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962400"/>
                  </a:lnTo>
                  <a:cubicBezTo>
                    <a:pt x="3556000" y="4158792"/>
                    <a:pt x="3396792" y="4318000"/>
                    <a:pt x="3200400" y="4318000"/>
                  </a:cubicBezTo>
                  <a:lnTo>
                    <a:pt x="355600" y="4318000"/>
                  </a:lnTo>
                  <a:cubicBezTo>
                    <a:pt x="159208" y="4318000"/>
                    <a:pt x="0" y="4158792"/>
                    <a:pt x="0" y="3962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93" name="TextBox 52">
              <a:extLst>
                <a:ext uri="{FF2B5EF4-FFF2-40B4-BE49-F238E27FC236}">
                  <a16:creationId xmlns:a16="http://schemas.microsoft.com/office/drawing/2014/main" id="{883FD2B8-68BC-0439-2834-63312B343340}"/>
                </a:ext>
              </a:extLst>
            </p:cNvPr>
            <p:cNvSpPr txBox="1"/>
            <p:nvPr/>
          </p:nvSpPr>
          <p:spPr>
            <a:xfrm>
              <a:off x="0" y="-38100"/>
              <a:ext cx="3556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grpSp>
        <p:nvGrpSpPr>
          <p:cNvPr id="194" name="Group 53">
            <a:extLst>
              <a:ext uri="{FF2B5EF4-FFF2-40B4-BE49-F238E27FC236}">
                <a16:creationId xmlns:a16="http://schemas.microsoft.com/office/drawing/2014/main" id="{ADDACAD7-89C6-A187-E487-DD925789E828}"/>
              </a:ext>
            </a:extLst>
          </p:cNvPr>
          <p:cNvGrpSpPr/>
          <p:nvPr/>
        </p:nvGrpSpPr>
        <p:grpSpPr>
          <a:xfrm>
            <a:off x="11620500" y="3886200"/>
            <a:ext cx="952500" cy="952500"/>
            <a:chOff x="0" y="0"/>
            <a:chExt cx="1270000" cy="1270000"/>
          </a:xfrm>
        </p:grpSpPr>
        <p:sp>
          <p:nvSpPr>
            <p:cNvPr id="195" name="Freeform 54">
              <a:extLst>
                <a:ext uri="{FF2B5EF4-FFF2-40B4-BE49-F238E27FC236}">
                  <a16:creationId xmlns:a16="http://schemas.microsoft.com/office/drawing/2014/main" id="{A2E1729C-E2F4-59B5-D3C7-593BB6468AD8}"/>
                </a:ext>
              </a:extLst>
            </p:cNvPr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635000" y="0"/>
                  </a:moveTo>
                  <a:cubicBezTo>
                    <a:pt x="284299" y="0"/>
                    <a:pt x="0" y="284299"/>
                    <a:pt x="0" y="635000"/>
                  </a:cubicBezTo>
                  <a:cubicBezTo>
                    <a:pt x="0" y="985701"/>
                    <a:pt x="284299" y="1270000"/>
                    <a:pt x="635000" y="1270000"/>
                  </a:cubicBezTo>
                  <a:cubicBezTo>
                    <a:pt x="985701" y="1270000"/>
                    <a:pt x="1270000" y="985701"/>
                    <a:pt x="1270000" y="635000"/>
                  </a:cubicBezTo>
                  <a:cubicBezTo>
                    <a:pt x="1270000" y="284299"/>
                    <a:pt x="985701" y="0"/>
                    <a:pt x="635000" y="0"/>
                  </a:cubicBezTo>
                  <a:close/>
                </a:path>
              </a:pathLst>
            </a:custGeom>
            <a:solidFill>
              <a:srgbClr val="F8EEDB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96" name="TextBox 55">
              <a:extLst>
                <a:ext uri="{FF2B5EF4-FFF2-40B4-BE49-F238E27FC236}">
                  <a16:creationId xmlns:a16="http://schemas.microsoft.com/office/drawing/2014/main" id="{8BA7734B-0138-6F1E-11FE-BD95D3382A80}"/>
                </a:ext>
              </a:extLst>
            </p:cNvPr>
            <p:cNvSpPr txBox="1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sp>
        <p:nvSpPr>
          <p:cNvPr id="197" name="TextBox 56">
            <a:extLst>
              <a:ext uri="{FF2B5EF4-FFF2-40B4-BE49-F238E27FC236}">
                <a16:creationId xmlns:a16="http://schemas.microsoft.com/office/drawing/2014/main" id="{6AEB7440-A45C-3720-C108-53D089294F20}"/>
              </a:ext>
            </a:extLst>
          </p:cNvPr>
          <p:cNvSpPr txBox="1"/>
          <p:nvPr/>
        </p:nvSpPr>
        <p:spPr>
          <a:xfrm>
            <a:off x="10887514" y="5000625"/>
            <a:ext cx="2476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ko-KR" altLang="en-US" sz="1599" b="1" u="none" strike="noStrike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신승연</a:t>
            </a:r>
            <a:endParaRPr lang="en-US" sz="1599" b="1" u="none" strike="noStrike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199" name="TextBox 58">
            <a:extLst>
              <a:ext uri="{FF2B5EF4-FFF2-40B4-BE49-F238E27FC236}">
                <a16:creationId xmlns:a16="http://schemas.microsoft.com/office/drawing/2014/main" id="{FD422A11-37E9-5240-0C43-517261F7780E}"/>
              </a:ext>
            </a:extLst>
          </p:cNvPr>
          <p:cNvSpPr txBox="1"/>
          <p:nvPr/>
        </p:nvSpPr>
        <p:spPr>
          <a:xfrm>
            <a:off x="10953750" y="5657850"/>
            <a:ext cx="22860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프로젝트 기획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웹서비스 개선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grpSp>
        <p:nvGrpSpPr>
          <p:cNvPr id="200" name="Group 59">
            <a:extLst>
              <a:ext uri="{FF2B5EF4-FFF2-40B4-BE49-F238E27FC236}">
                <a16:creationId xmlns:a16="http://schemas.microsoft.com/office/drawing/2014/main" id="{A17F9B24-58AD-AC1A-895A-86BCD2B0FDD8}"/>
              </a:ext>
            </a:extLst>
          </p:cNvPr>
          <p:cNvGrpSpPr/>
          <p:nvPr/>
        </p:nvGrpSpPr>
        <p:grpSpPr>
          <a:xfrm>
            <a:off x="13716000" y="3695700"/>
            <a:ext cx="2667000" cy="3238500"/>
            <a:chOff x="0" y="0"/>
            <a:chExt cx="3556000" cy="4318000"/>
          </a:xfrm>
        </p:grpSpPr>
        <p:sp>
          <p:nvSpPr>
            <p:cNvPr id="201" name="Freeform 60">
              <a:extLst>
                <a:ext uri="{FF2B5EF4-FFF2-40B4-BE49-F238E27FC236}">
                  <a16:creationId xmlns:a16="http://schemas.microsoft.com/office/drawing/2014/main" id="{796C5CEF-5B03-C7F3-8F97-97B9EEFECA2C}"/>
                </a:ext>
              </a:extLst>
            </p:cNvPr>
            <p:cNvSpPr/>
            <p:nvPr/>
          </p:nvSpPr>
          <p:spPr>
            <a:xfrm>
              <a:off x="0" y="0"/>
              <a:ext cx="3556000" cy="4318000"/>
            </a:xfrm>
            <a:custGeom>
              <a:avLst/>
              <a:gdLst/>
              <a:ahLst/>
              <a:cxnLst/>
              <a:rect l="l" t="t" r="r" b="b"/>
              <a:pathLst>
                <a:path w="3556000" h="4318000">
                  <a:moveTo>
                    <a:pt x="355600" y="0"/>
                  </a:moveTo>
                  <a:lnTo>
                    <a:pt x="3200400" y="0"/>
                  </a:lnTo>
                  <a:cubicBezTo>
                    <a:pt x="3396792" y="0"/>
                    <a:pt x="3556000" y="159208"/>
                    <a:pt x="3556000" y="355600"/>
                  </a:cubicBezTo>
                  <a:lnTo>
                    <a:pt x="3556000" y="3962400"/>
                  </a:lnTo>
                  <a:cubicBezTo>
                    <a:pt x="3556000" y="4158792"/>
                    <a:pt x="3396792" y="4318000"/>
                    <a:pt x="3200400" y="4318000"/>
                  </a:cubicBezTo>
                  <a:lnTo>
                    <a:pt x="355600" y="4318000"/>
                  </a:lnTo>
                  <a:cubicBezTo>
                    <a:pt x="159208" y="4318000"/>
                    <a:pt x="0" y="4158792"/>
                    <a:pt x="0" y="3962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02" name="TextBox 61">
              <a:extLst>
                <a:ext uri="{FF2B5EF4-FFF2-40B4-BE49-F238E27FC236}">
                  <a16:creationId xmlns:a16="http://schemas.microsoft.com/office/drawing/2014/main" id="{1DB8615C-3E6D-D5C4-4589-210742085062}"/>
                </a:ext>
              </a:extLst>
            </p:cNvPr>
            <p:cNvSpPr txBox="1"/>
            <p:nvPr/>
          </p:nvSpPr>
          <p:spPr>
            <a:xfrm>
              <a:off x="0" y="-38100"/>
              <a:ext cx="3556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grpSp>
        <p:nvGrpSpPr>
          <p:cNvPr id="203" name="Group 62">
            <a:extLst>
              <a:ext uri="{FF2B5EF4-FFF2-40B4-BE49-F238E27FC236}">
                <a16:creationId xmlns:a16="http://schemas.microsoft.com/office/drawing/2014/main" id="{D080E3F3-305C-48C2-AA37-DE6F9B02A659}"/>
              </a:ext>
            </a:extLst>
          </p:cNvPr>
          <p:cNvGrpSpPr/>
          <p:nvPr/>
        </p:nvGrpSpPr>
        <p:grpSpPr>
          <a:xfrm>
            <a:off x="14573250" y="3886200"/>
            <a:ext cx="952500" cy="952500"/>
            <a:chOff x="0" y="0"/>
            <a:chExt cx="1270000" cy="1270000"/>
          </a:xfrm>
        </p:grpSpPr>
        <p:sp>
          <p:nvSpPr>
            <p:cNvPr id="204" name="Freeform 63">
              <a:extLst>
                <a:ext uri="{FF2B5EF4-FFF2-40B4-BE49-F238E27FC236}">
                  <a16:creationId xmlns:a16="http://schemas.microsoft.com/office/drawing/2014/main" id="{9C456428-B921-2ACD-3DAB-B94EE372B7C7}"/>
                </a:ext>
              </a:extLst>
            </p:cNvPr>
            <p:cNvSpPr/>
            <p:nvPr/>
          </p:nvSpPr>
          <p:spPr>
            <a:xfrm>
              <a:off x="0" y="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635000" y="0"/>
                  </a:moveTo>
                  <a:cubicBezTo>
                    <a:pt x="284299" y="0"/>
                    <a:pt x="0" y="284299"/>
                    <a:pt x="0" y="635000"/>
                  </a:cubicBezTo>
                  <a:cubicBezTo>
                    <a:pt x="0" y="985701"/>
                    <a:pt x="284299" y="1270000"/>
                    <a:pt x="635000" y="1270000"/>
                  </a:cubicBezTo>
                  <a:cubicBezTo>
                    <a:pt x="985701" y="1270000"/>
                    <a:pt x="1270000" y="985701"/>
                    <a:pt x="1270000" y="635000"/>
                  </a:cubicBezTo>
                  <a:cubicBezTo>
                    <a:pt x="1270000" y="284299"/>
                    <a:pt x="985701" y="0"/>
                    <a:pt x="635000" y="0"/>
                  </a:cubicBezTo>
                  <a:close/>
                </a:path>
              </a:pathLst>
            </a:custGeom>
            <a:solidFill>
              <a:srgbClr val="F8EEDB"/>
            </a:solidFill>
            <a:ln w="19050" cap="sq">
              <a:solidFill>
                <a:srgbClr val="FF8A3D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05" name="TextBox 64">
              <a:extLst>
                <a:ext uri="{FF2B5EF4-FFF2-40B4-BE49-F238E27FC236}">
                  <a16:creationId xmlns:a16="http://schemas.microsoft.com/office/drawing/2014/main" id="{C318C069-31E1-4FD7-CA87-430CD4B78B41}"/>
                </a:ext>
              </a:extLst>
            </p:cNvPr>
            <p:cNvSpPr txBox="1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b="1">
                <a:latin typeface="+mn-ea"/>
              </a:endParaRPr>
            </a:p>
          </p:txBody>
        </p:sp>
      </p:grpSp>
      <p:sp>
        <p:nvSpPr>
          <p:cNvPr id="206" name="TextBox 65">
            <a:extLst>
              <a:ext uri="{FF2B5EF4-FFF2-40B4-BE49-F238E27FC236}">
                <a16:creationId xmlns:a16="http://schemas.microsoft.com/office/drawing/2014/main" id="{F07F6F67-31B1-EEC5-0A18-87A046B4136B}"/>
              </a:ext>
            </a:extLst>
          </p:cNvPr>
          <p:cNvSpPr txBox="1"/>
          <p:nvPr/>
        </p:nvSpPr>
        <p:spPr>
          <a:xfrm>
            <a:off x="13811250" y="5000625"/>
            <a:ext cx="247650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ko-KR" altLang="en-US" sz="1599" b="1" u="none" strike="noStrike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박성환</a:t>
            </a:r>
            <a:endParaRPr lang="en-US" sz="1599" b="1" u="none" strike="noStrike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208" name="TextBox 67">
            <a:extLst>
              <a:ext uri="{FF2B5EF4-FFF2-40B4-BE49-F238E27FC236}">
                <a16:creationId xmlns:a16="http://schemas.microsoft.com/office/drawing/2014/main" id="{7E965743-7302-0062-69A5-13CAF1C0C528}"/>
              </a:ext>
            </a:extLst>
          </p:cNvPr>
          <p:cNvSpPr txBox="1"/>
          <p:nvPr/>
        </p:nvSpPr>
        <p:spPr>
          <a:xfrm>
            <a:off x="13906500" y="5657850"/>
            <a:ext cx="22860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UX 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디자인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lvl="0" algn="ctr">
              <a:lnSpc>
                <a:spcPts val="1760"/>
              </a:lnSpc>
              <a:spcBef>
                <a:spcPct val="0"/>
              </a:spcBef>
            </a:pPr>
            <a:r>
              <a:rPr lang="en-US" altLang="ko-KR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AI </a:t>
            </a:r>
            <a:r>
              <a:rPr lang="ko-KR" altLang="en-US" sz="1400" b="1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모델 및 데이터 처리</a:t>
            </a:r>
            <a:endParaRPr lang="en-US" altLang="ko-KR" sz="1400" b="1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209" name="Freeform 68">
            <a:extLst>
              <a:ext uri="{FF2B5EF4-FFF2-40B4-BE49-F238E27FC236}">
                <a16:creationId xmlns:a16="http://schemas.microsoft.com/office/drawing/2014/main" id="{A0A9963A-2569-7F1C-673E-BAEBB1302295}"/>
              </a:ext>
            </a:extLst>
          </p:cNvPr>
          <p:cNvSpPr/>
          <p:nvPr/>
        </p:nvSpPr>
        <p:spPr>
          <a:xfrm>
            <a:off x="8691563" y="4004430"/>
            <a:ext cx="904875" cy="904875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210" name="Freeform 69">
            <a:extLst>
              <a:ext uri="{FF2B5EF4-FFF2-40B4-BE49-F238E27FC236}">
                <a16:creationId xmlns:a16="http://schemas.microsoft.com/office/drawing/2014/main" id="{1BC0A81A-C3DE-6123-8368-30B96E454D87}"/>
              </a:ext>
            </a:extLst>
          </p:cNvPr>
          <p:cNvSpPr/>
          <p:nvPr/>
        </p:nvSpPr>
        <p:spPr>
          <a:xfrm>
            <a:off x="2762250" y="395296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211" name="Freeform 70">
            <a:extLst>
              <a:ext uri="{FF2B5EF4-FFF2-40B4-BE49-F238E27FC236}">
                <a16:creationId xmlns:a16="http://schemas.microsoft.com/office/drawing/2014/main" id="{4CD42607-FB19-6AAC-5EDA-3438B5EC118A}"/>
              </a:ext>
            </a:extLst>
          </p:cNvPr>
          <p:cNvSpPr/>
          <p:nvPr/>
        </p:nvSpPr>
        <p:spPr>
          <a:xfrm>
            <a:off x="5643653" y="3895907"/>
            <a:ext cx="1095193" cy="1095193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212" name="Freeform 71">
            <a:extLst>
              <a:ext uri="{FF2B5EF4-FFF2-40B4-BE49-F238E27FC236}">
                <a16:creationId xmlns:a16="http://schemas.microsoft.com/office/drawing/2014/main" id="{2A140F52-132B-58CE-3828-D51E4ADC1B2F}"/>
              </a:ext>
            </a:extLst>
          </p:cNvPr>
          <p:cNvSpPr/>
          <p:nvPr/>
        </p:nvSpPr>
        <p:spPr>
          <a:xfrm>
            <a:off x="11620500" y="395296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9C7B894E-2A49-4899-A2E6-2B9D2A75D1EA}"/>
              </a:ext>
            </a:extLst>
          </p:cNvPr>
          <p:cNvSpPr txBox="1"/>
          <p:nvPr/>
        </p:nvSpPr>
        <p:spPr>
          <a:xfrm>
            <a:off x="4995662" y="5348522"/>
            <a:ext cx="24765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ko-KR" altLang="en-US" sz="1200" b="1" u="none" strike="noStrike" dirty="0">
                <a:solidFill>
                  <a:srgbClr val="FF8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팀원</a:t>
            </a:r>
            <a:endParaRPr lang="en-US" sz="1200" b="1" u="none" strike="noStrike" dirty="0">
              <a:solidFill>
                <a:srgbClr val="FF8A3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21" name="TextBox 30">
            <a:extLst>
              <a:ext uri="{FF2B5EF4-FFF2-40B4-BE49-F238E27FC236}">
                <a16:creationId xmlns:a16="http://schemas.microsoft.com/office/drawing/2014/main" id="{35D99887-F5A3-8070-8DE5-9A650D065985}"/>
              </a:ext>
            </a:extLst>
          </p:cNvPr>
          <p:cNvSpPr txBox="1"/>
          <p:nvPr/>
        </p:nvSpPr>
        <p:spPr>
          <a:xfrm>
            <a:off x="7902919" y="5348522"/>
            <a:ext cx="24765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ko-KR" altLang="en-US" sz="1200" b="1" u="none" strike="noStrike" dirty="0">
                <a:solidFill>
                  <a:srgbClr val="FF8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팀원</a:t>
            </a:r>
            <a:endParaRPr lang="en-US" sz="1200" b="1" u="none" strike="noStrike" dirty="0">
              <a:solidFill>
                <a:srgbClr val="FF8A3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22" name="TextBox 30">
            <a:extLst>
              <a:ext uri="{FF2B5EF4-FFF2-40B4-BE49-F238E27FC236}">
                <a16:creationId xmlns:a16="http://schemas.microsoft.com/office/drawing/2014/main" id="{76EAF8F3-F404-79FF-67BB-028F62A162DA}"/>
              </a:ext>
            </a:extLst>
          </p:cNvPr>
          <p:cNvSpPr txBox="1"/>
          <p:nvPr/>
        </p:nvSpPr>
        <p:spPr>
          <a:xfrm>
            <a:off x="10858500" y="5348522"/>
            <a:ext cx="24765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ko-KR" altLang="en-US" sz="1200" b="1" u="none" strike="noStrike" dirty="0">
                <a:solidFill>
                  <a:srgbClr val="FF8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팀원</a:t>
            </a:r>
            <a:endParaRPr lang="en-US" sz="1200" b="1" u="none" strike="noStrike" dirty="0">
              <a:solidFill>
                <a:srgbClr val="FF8A3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23" name="TextBox 30">
            <a:extLst>
              <a:ext uri="{FF2B5EF4-FFF2-40B4-BE49-F238E27FC236}">
                <a16:creationId xmlns:a16="http://schemas.microsoft.com/office/drawing/2014/main" id="{310BEA3E-7E26-6EF7-A35E-96EFA6251DAC}"/>
              </a:ext>
            </a:extLst>
          </p:cNvPr>
          <p:cNvSpPr txBox="1"/>
          <p:nvPr/>
        </p:nvSpPr>
        <p:spPr>
          <a:xfrm>
            <a:off x="13814662" y="5348522"/>
            <a:ext cx="2476500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ko-KR" altLang="en-US" sz="1200" b="1" u="none" strike="noStrike" dirty="0">
                <a:solidFill>
                  <a:srgbClr val="FF8A3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팀원</a:t>
            </a:r>
            <a:endParaRPr lang="en-US" sz="1200" b="1" u="none" strike="noStrike" dirty="0">
              <a:solidFill>
                <a:srgbClr val="FF8A3D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080BD81-4BCF-48D8-DC28-6262C92BFA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4853" y="3944447"/>
            <a:ext cx="950897" cy="95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2896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981F5-2D97-B875-9C57-D9C22B8C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45F6EF-79B2-1952-3854-6CC17A101340}"/>
              </a:ext>
            </a:extLst>
          </p:cNvPr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9C3D35-E9E2-5132-5DDD-4E71ABBE7998}"/>
                </a:ext>
              </a:extLst>
            </p:cNvPr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60A009A-E986-4DA5-7BE6-17601F49C117}"/>
                </a:ext>
              </a:extLst>
            </p:cNvPr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9"/>
                </a:lnSpc>
              </a:pPr>
              <a:endParaRPr dirty="0">
                <a:latin typeface="KoPubWorld돋움체 Light" panose="00000300000000000000" pitchFamily="2" charset="-127"/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6052E67-400E-A80F-9564-EEA4024D8CA8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3D5063F-F79F-4D8D-95CB-EEAEF0EA597F}"/>
              </a:ext>
            </a:extLst>
          </p:cNvPr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87CA8F-4734-7FCF-E4DD-73681FBD301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A156352-DF92-9E7B-37CA-6D3BAC0BA81D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D41C14D-C16E-6367-F3DB-60D215B409CC}"/>
              </a:ext>
            </a:extLst>
          </p:cNvPr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CFF493A-4E5E-26EF-435F-21DE9048D31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75DED76-14F5-2A36-55B4-7552F8DA432C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49A414A-D856-C19E-1438-42976AC95775}"/>
              </a:ext>
            </a:extLst>
          </p:cNvPr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588CA73-54CB-160D-19E1-451F0E231F9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E1AE6BB-D00A-7B50-0ADA-FBC5B7372AD4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405014D-00FA-F687-3DA2-DA0806A289C2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CA8598F-7930-899E-D5CA-07BF038ADC97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040177B-7779-A644-78AE-FC5CED7F9624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51" name="TextBox 51">
            <a:extLst>
              <a:ext uri="{FF2B5EF4-FFF2-40B4-BE49-F238E27FC236}">
                <a16:creationId xmlns:a16="http://schemas.microsoft.com/office/drawing/2014/main" id="{F1FFBEBC-F3A2-F8BE-E8CA-E1774A99E139}"/>
              </a:ext>
            </a:extLst>
          </p:cNvPr>
          <p:cNvSpPr txBox="1"/>
          <p:nvPr/>
        </p:nvSpPr>
        <p:spPr>
          <a:xfrm>
            <a:off x="1905184" y="797636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8"/>
              </a:lnSpc>
              <a:spcBef>
                <a:spcPct val="0"/>
              </a:spcBef>
            </a:pPr>
            <a:r>
              <a:rPr lang="ko-KR" altLang="en-US" sz="2600" b="1" u="none" strike="noStrike" spc="-39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타겟 사용자</a:t>
            </a:r>
            <a:endParaRPr lang="en-US" sz="2600" b="1" u="none" strike="noStrike" spc="-39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6AE7CA72-42F9-E023-377D-E15D86BEE44D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01</a:t>
            </a:r>
          </a:p>
        </p:txBody>
      </p:sp>
      <p:sp>
        <p:nvSpPr>
          <p:cNvPr id="125" name="양쪽 모서리가 둥근 사각형 15">
            <a:extLst>
              <a:ext uri="{FF2B5EF4-FFF2-40B4-BE49-F238E27FC236}">
                <a16:creationId xmlns:a16="http://schemas.microsoft.com/office/drawing/2014/main" id="{E6A71868-2F92-82CC-4145-D69A96BBE9AA}"/>
              </a:ext>
            </a:extLst>
          </p:cNvPr>
          <p:cNvSpPr/>
          <p:nvPr/>
        </p:nvSpPr>
        <p:spPr>
          <a:xfrm>
            <a:off x="1847179" y="4152900"/>
            <a:ext cx="4498350" cy="4965249"/>
          </a:xfrm>
          <a:prstGeom prst="round2SameRect">
            <a:avLst>
              <a:gd name="adj1" fmla="val 16667"/>
              <a:gd name="adj2" fmla="val 0"/>
            </a:avLst>
          </a:prstGeom>
          <a:solidFill>
            <a:sysClr val="window" lastClr="FFFFFF"/>
          </a:solidFill>
          <a:ln w="38100" cap="flat" cmpd="sng" algn="ctr">
            <a:solidFill>
              <a:srgbClr val="FFD700"/>
            </a:solidFill>
            <a:prstDash val="solid"/>
          </a:ln>
          <a:effectLst/>
        </p:spPr>
        <p:txBody>
          <a:bodyPr lIns="108013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+mn-cs"/>
            </a:endParaRPr>
          </a:p>
        </p:txBody>
      </p:sp>
      <p:sp>
        <p:nvSpPr>
          <p:cNvPr id="127" name="TextBox 40">
            <a:extLst>
              <a:ext uri="{FF2B5EF4-FFF2-40B4-BE49-F238E27FC236}">
                <a16:creationId xmlns:a16="http://schemas.microsoft.com/office/drawing/2014/main" id="{61F94DBE-AD40-BFF3-319C-75B520194E5D}"/>
              </a:ext>
            </a:extLst>
          </p:cNvPr>
          <p:cNvSpPr txBox="1"/>
          <p:nvPr/>
        </p:nvSpPr>
        <p:spPr>
          <a:xfrm>
            <a:off x="5200534" y="1790700"/>
            <a:ext cx="7880988" cy="6283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>
              <a:lnSpc>
                <a:spcPts val="4896"/>
              </a:lnSpc>
              <a:defRPr/>
            </a:pPr>
            <a:r>
              <a:rPr lang="ko-KR" altLang="en-US" sz="3600" b="1" dirty="0">
                <a:solidFill>
                  <a:srgbClr val="211F1C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꼬치꼬치</a:t>
            </a:r>
            <a:r>
              <a:rPr lang="en-US" altLang="ko-KR" sz="3600" b="1" dirty="0">
                <a:solidFill>
                  <a:srgbClr val="211F1C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, </a:t>
            </a:r>
            <a:r>
              <a:rPr lang="ko-KR" altLang="en-US" sz="3600" b="1" dirty="0">
                <a:solidFill>
                  <a:srgbClr val="211F1C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누구를 위한 서비스인가요</a:t>
            </a:r>
            <a:r>
              <a:rPr lang="en-US" altLang="ko-KR" sz="3600" b="1" dirty="0">
                <a:solidFill>
                  <a:srgbClr val="211F1C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Bold"/>
              </a:rPr>
              <a:t>?</a:t>
            </a:r>
            <a:endParaRPr lang="en-US" sz="3600" b="1" dirty="0">
              <a:solidFill>
                <a:srgbClr val="211F1C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Bold"/>
            </a:endParaRPr>
          </a:p>
        </p:txBody>
      </p:sp>
      <p:sp>
        <p:nvSpPr>
          <p:cNvPr id="128" name="양쪽 모서리가 둥근 사각형 15">
            <a:extLst>
              <a:ext uri="{FF2B5EF4-FFF2-40B4-BE49-F238E27FC236}">
                <a16:creationId xmlns:a16="http://schemas.microsoft.com/office/drawing/2014/main" id="{960DD2B9-2B73-E421-B50B-8304445973BB}"/>
              </a:ext>
            </a:extLst>
          </p:cNvPr>
          <p:cNvSpPr/>
          <p:nvPr/>
        </p:nvSpPr>
        <p:spPr>
          <a:xfrm>
            <a:off x="6891853" y="4152899"/>
            <a:ext cx="4498350" cy="4965249"/>
          </a:xfrm>
          <a:prstGeom prst="round2SameRect">
            <a:avLst>
              <a:gd name="adj1" fmla="val 16667"/>
              <a:gd name="adj2" fmla="val 0"/>
            </a:avLst>
          </a:prstGeom>
          <a:solidFill>
            <a:sysClr val="window" lastClr="FFFFFF"/>
          </a:solidFill>
          <a:ln w="38100" cap="flat" cmpd="sng" algn="ctr">
            <a:solidFill>
              <a:srgbClr val="FFD700"/>
            </a:solidFill>
            <a:prstDash val="solid"/>
          </a:ln>
          <a:effectLst/>
        </p:spPr>
        <p:txBody>
          <a:bodyPr lIns="108013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+mn-cs"/>
            </a:endParaRPr>
          </a:p>
        </p:txBody>
      </p:sp>
      <p:sp>
        <p:nvSpPr>
          <p:cNvPr id="129" name="양쪽 모서리가 둥근 사각형 15">
            <a:extLst>
              <a:ext uri="{FF2B5EF4-FFF2-40B4-BE49-F238E27FC236}">
                <a16:creationId xmlns:a16="http://schemas.microsoft.com/office/drawing/2014/main" id="{1A1989DF-6DC1-D48B-6AAB-A05A9F08F654}"/>
              </a:ext>
            </a:extLst>
          </p:cNvPr>
          <p:cNvSpPr/>
          <p:nvPr/>
        </p:nvSpPr>
        <p:spPr>
          <a:xfrm>
            <a:off x="11936527" y="4152898"/>
            <a:ext cx="4498350" cy="4965249"/>
          </a:xfrm>
          <a:prstGeom prst="round2SameRect">
            <a:avLst>
              <a:gd name="adj1" fmla="val 16667"/>
              <a:gd name="adj2" fmla="val 0"/>
            </a:avLst>
          </a:prstGeom>
          <a:solidFill>
            <a:sysClr val="window" lastClr="FFFFFF"/>
          </a:solidFill>
          <a:ln w="38100" cap="flat" cmpd="sng" algn="ctr">
            <a:solidFill>
              <a:srgbClr val="FFD700"/>
            </a:solidFill>
            <a:prstDash val="solid"/>
          </a:ln>
          <a:effectLst/>
        </p:spPr>
        <p:txBody>
          <a:bodyPr lIns="108013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World돋움체 Light" panose="00000300000000000000" pitchFamily="2" charset="-127"/>
              <a:ea typeface="KoPubWorld돋움체 Light" panose="00000300000000000000" pitchFamily="2" charset="-127"/>
              <a:cs typeface="+mn-cs"/>
            </a:endParaRPr>
          </a:p>
        </p:txBody>
      </p:sp>
      <p:sp>
        <p:nvSpPr>
          <p:cNvPr id="135" name="Google Shape;115;p15">
            <a:extLst>
              <a:ext uri="{FF2B5EF4-FFF2-40B4-BE49-F238E27FC236}">
                <a16:creationId xmlns:a16="http://schemas.microsoft.com/office/drawing/2014/main" id="{960F6DC6-BFFC-2341-B2BD-745C17C5E146}"/>
              </a:ext>
            </a:extLst>
          </p:cNvPr>
          <p:cNvSpPr txBox="1"/>
          <p:nvPr/>
        </p:nvSpPr>
        <p:spPr>
          <a:xfrm>
            <a:off x="2278892" y="5929291"/>
            <a:ext cx="3634921" cy="23467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271320" indent="-271320" latinLnBrk="1">
              <a:lnSpc>
                <a:spcPct val="1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en-US" altLang="ko-KR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‘</a:t>
            </a:r>
            <a:r>
              <a:rPr lang="en-US" sz="2000" b="1" dirty="0" err="1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비용</a:t>
            </a:r>
            <a:r>
              <a:rPr lang="en-US" altLang="ko-KR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’ </a:t>
            </a:r>
            <a:r>
              <a:rPr 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과 </a:t>
            </a:r>
            <a:r>
              <a:rPr lang="en-US" altLang="ko-KR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‘</a:t>
            </a:r>
            <a:r>
              <a:rPr lang="en-US" sz="2000" b="1" dirty="0" err="1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공간</a:t>
            </a:r>
            <a:r>
              <a:rPr lang="en-US" altLang="ko-KR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’ </a:t>
            </a:r>
            <a:r>
              <a:rPr 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의 </a:t>
            </a:r>
            <a:r>
              <a:rPr lang="en-US" sz="2000" b="1" dirty="0" err="1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제약</a:t>
            </a:r>
            <a:r>
              <a:rPr 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2000" b="1" dirty="0" err="1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없는</a:t>
            </a:r>
            <a:r>
              <a:rPr 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</a:p>
          <a:p>
            <a:pPr latinLnBrk="1">
              <a:lnSpc>
                <a:spcPct val="150000"/>
              </a:lnSpc>
              <a:buClr>
                <a:srgbClr val="FF843A"/>
              </a:buClr>
              <a:buSzPct val="120000"/>
              <a:defRPr/>
            </a:pPr>
            <a:r>
              <a:rPr 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   </a:t>
            </a:r>
            <a:r>
              <a:rPr lang="en-US" sz="2000" b="1" dirty="0" err="1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면접</a:t>
            </a:r>
            <a:r>
              <a:rPr 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2000" b="1" dirty="0" err="1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연습</a:t>
            </a:r>
            <a:endParaRPr lang="en-US" sz="2000" b="1" dirty="0">
              <a:solidFill>
                <a:srgbClr val="4444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271320" indent="-271320" latinLnBrk="1">
              <a:lnSpc>
                <a:spcPct val="2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이력서 기반 정밀 꼬리질문 대처</a:t>
            </a:r>
          </a:p>
          <a:p>
            <a:pPr marL="271320" indent="-271320" latinLnBrk="1">
              <a:lnSpc>
                <a:spcPct val="2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정량적 피드백 제공</a:t>
            </a:r>
          </a:p>
        </p:txBody>
      </p:sp>
      <p:sp>
        <p:nvSpPr>
          <p:cNvPr id="139" name="Google Shape;115;p15">
            <a:extLst>
              <a:ext uri="{FF2B5EF4-FFF2-40B4-BE49-F238E27FC236}">
                <a16:creationId xmlns:a16="http://schemas.microsoft.com/office/drawing/2014/main" id="{70B79042-CA5A-6762-E1C7-82F2468326A8}"/>
              </a:ext>
            </a:extLst>
          </p:cNvPr>
          <p:cNvSpPr txBox="1"/>
          <p:nvPr/>
        </p:nvSpPr>
        <p:spPr>
          <a:xfrm>
            <a:off x="12375762" y="5516008"/>
            <a:ext cx="3733800" cy="26161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228480" indent="-228480" latinLnBrk="1">
              <a:lnSpc>
                <a:spcPct val="30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면접 데이터 기반 면접 트렌드 파악</a:t>
            </a:r>
          </a:p>
          <a:p>
            <a:pPr marL="271320" indent="-271320" latinLnBrk="1">
              <a:lnSpc>
                <a:spcPct val="30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서류 검토 시간 절약</a:t>
            </a:r>
            <a:endParaRPr lang="en-US" sz="2000" b="1" dirty="0">
              <a:solidFill>
                <a:srgbClr val="4444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271320" indent="-271320" latinLnBrk="1">
              <a:lnSpc>
                <a:spcPct val="30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심층질문 가이드라인 확보</a:t>
            </a:r>
          </a:p>
        </p:txBody>
      </p:sp>
      <p:sp>
        <p:nvSpPr>
          <p:cNvPr id="140" name="왼쪽 화살표 46">
            <a:extLst>
              <a:ext uri="{FF2B5EF4-FFF2-40B4-BE49-F238E27FC236}">
                <a16:creationId xmlns:a16="http://schemas.microsoft.com/office/drawing/2014/main" id="{A1769A0D-A6EB-35D2-E401-02258027442F}"/>
              </a:ext>
            </a:extLst>
          </p:cNvPr>
          <p:cNvSpPr/>
          <p:nvPr/>
        </p:nvSpPr>
        <p:spPr>
          <a:xfrm>
            <a:off x="6233364" y="3828908"/>
            <a:ext cx="661734" cy="581506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BDE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141" name="왼쪽 화살표 46">
            <a:extLst>
              <a:ext uri="{FF2B5EF4-FFF2-40B4-BE49-F238E27FC236}">
                <a16:creationId xmlns:a16="http://schemas.microsoft.com/office/drawing/2014/main" id="{26F53BD0-885F-F901-0B72-1341A4AFFDBD}"/>
              </a:ext>
            </a:extLst>
          </p:cNvPr>
          <p:cNvSpPr/>
          <p:nvPr/>
        </p:nvSpPr>
        <p:spPr>
          <a:xfrm rot="10800000">
            <a:off x="11390785" y="3828908"/>
            <a:ext cx="661734" cy="581506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BDEF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184D76-1419-C3EE-D5D6-DC6920B21FEE}"/>
              </a:ext>
            </a:extLst>
          </p:cNvPr>
          <p:cNvSpPr txBox="1"/>
          <p:nvPr/>
        </p:nvSpPr>
        <p:spPr>
          <a:xfrm>
            <a:off x="13495568" y="3225434"/>
            <a:ext cx="1494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 lang="ko-KR" altLang="en-US" b="1" dirty="0">
              <a:solidFill>
                <a:srgbClr val="FFFF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ko-KR" altLang="en-US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Google Shape;115;p15">
            <a:extLst>
              <a:ext uri="{FF2B5EF4-FFF2-40B4-BE49-F238E27FC236}">
                <a16:creationId xmlns:a16="http://schemas.microsoft.com/office/drawing/2014/main" id="{37015545-3C86-D830-AFE7-6FA6F52528F0}"/>
              </a:ext>
            </a:extLst>
          </p:cNvPr>
          <p:cNvSpPr txBox="1"/>
          <p:nvPr/>
        </p:nvSpPr>
        <p:spPr>
          <a:xfrm>
            <a:off x="7599733" y="5621514"/>
            <a:ext cx="3104614" cy="29623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marL="271320" indent="-271320" latinLnBrk="1">
              <a:lnSpc>
                <a:spcPct val="2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지원자 이력서 분석</a:t>
            </a:r>
            <a:endParaRPr lang="en-US" altLang="ko-KR" sz="2000" b="1" dirty="0">
              <a:solidFill>
                <a:srgbClr val="4444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271320" indent="-271320" latinLnBrk="1">
              <a:lnSpc>
                <a:spcPct val="2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en-US" altLang="ko-KR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AI </a:t>
            </a: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기반 모의 면접 진행</a:t>
            </a:r>
          </a:p>
          <a:p>
            <a:pPr marL="271320" indent="-271320" latinLnBrk="1">
              <a:lnSpc>
                <a:spcPct val="2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개인 맞춤형 꼬리질문 생성</a:t>
            </a:r>
            <a:endParaRPr lang="en-US" altLang="ko-KR" sz="2000" b="1" dirty="0">
              <a:solidFill>
                <a:srgbClr val="44444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  <a:p>
            <a:pPr marL="271320" indent="-271320" latinLnBrk="1">
              <a:lnSpc>
                <a:spcPct val="250000"/>
              </a:lnSpc>
              <a:buClr>
                <a:srgbClr val="FF843A"/>
              </a:buClr>
              <a:buSzPct val="120000"/>
              <a:buFont typeface="Arial"/>
              <a:buChar char="•"/>
              <a:defRPr/>
            </a:pPr>
            <a:r>
              <a:rPr lang="ko-KR" altLang="en-US" sz="2000" b="1" dirty="0">
                <a:solidFill>
                  <a:srgbClr val="44444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응답 분석 및 피드백 제공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1B51EBD-A339-B830-5E30-250BEBB58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531" y="2936929"/>
            <a:ext cx="2539645" cy="243193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F5E645E-6ED2-66E4-2951-A418BF8F4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965" y="2900070"/>
            <a:ext cx="2431718" cy="251296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D8929C9-BD0B-E7EA-3251-4C929FE28D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7022" y="2900070"/>
            <a:ext cx="2431718" cy="251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861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468" y="590348"/>
            <a:ext cx="17036589" cy="9116673"/>
            <a:chOff x="0" y="0"/>
            <a:chExt cx="5109002" cy="2727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9"/>
                </a:lnSpc>
              </a:pPr>
              <a:endParaRPr dirty="0">
                <a:latin typeface="KoPubWorld돋움체 Light" panose="00000300000000000000" pitchFamily="2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660894" y="2883939"/>
            <a:ext cx="5050760" cy="1244677"/>
            <a:chOff x="0" y="0"/>
            <a:chExt cx="2068572" cy="2776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68573" cy="277634"/>
            </a:xfrm>
            <a:custGeom>
              <a:avLst/>
              <a:gdLst/>
              <a:ahLst/>
              <a:cxnLst/>
              <a:rect l="l" t="t" r="r" b="b"/>
              <a:pathLst>
                <a:path w="2068573" h="277634">
                  <a:moveTo>
                    <a:pt x="0" y="0"/>
                  </a:moveTo>
                  <a:lnTo>
                    <a:pt x="2068573" y="0"/>
                  </a:lnTo>
                  <a:lnTo>
                    <a:pt x="2068573" y="277634"/>
                  </a:lnTo>
                  <a:lnTo>
                    <a:pt x="0" y="277634"/>
                  </a:lnTo>
                  <a:close/>
                </a:path>
              </a:pathLst>
            </a:custGeom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068572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32442" y="3233813"/>
            <a:ext cx="4024019" cy="4154492"/>
            <a:chOff x="0" y="0"/>
            <a:chExt cx="2274726" cy="1841515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914975" cy="1841515"/>
              <a:chOff x="0" y="0"/>
              <a:chExt cx="378267" cy="36375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78267" cy="363756"/>
              </a:xfrm>
              <a:custGeom>
                <a:avLst/>
                <a:gdLst/>
                <a:ahLst/>
                <a:cxnLst/>
                <a:rect l="l" t="t" r="r" b="b"/>
                <a:pathLst>
                  <a:path w="378267" h="363756">
                    <a:moveTo>
                      <a:pt x="177885" y="0"/>
                    </a:moveTo>
                    <a:lnTo>
                      <a:pt x="200382" y="0"/>
                    </a:lnTo>
                    <a:cubicBezTo>
                      <a:pt x="298625" y="0"/>
                      <a:pt x="378267" y="79642"/>
                      <a:pt x="378267" y="177885"/>
                    </a:cubicBezTo>
                    <a:lnTo>
                      <a:pt x="378267" y="185871"/>
                    </a:lnTo>
                    <a:cubicBezTo>
                      <a:pt x="378267" y="233049"/>
                      <a:pt x="359525" y="278295"/>
                      <a:pt x="326165" y="311655"/>
                    </a:cubicBezTo>
                    <a:cubicBezTo>
                      <a:pt x="292806" y="345015"/>
                      <a:pt x="247560" y="363756"/>
                      <a:pt x="200382" y="363756"/>
                    </a:cubicBezTo>
                    <a:lnTo>
                      <a:pt x="177885" y="363756"/>
                    </a:lnTo>
                    <a:cubicBezTo>
                      <a:pt x="130707" y="363756"/>
                      <a:pt x="85461" y="345015"/>
                      <a:pt x="52101" y="311655"/>
                    </a:cubicBezTo>
                    <a:cubicBezTo>
                      <a:pt x="18741" y="278295"/>
                      <a:pt x="0" y="233049"/>
                      <a:pt x="0" y="185871"/>
                    </a:cubicBezTo>
                    <a:lnTo>
                      <a:pt x="0" y="177885"/>
                    </a:lnTo>
                    <a:cubicBezTo>
                      <a:pt x="0" y="130707"/>
                      <a:pt x="18741" y="85461"/>
                      <a:pt x="52101" y="52101"/>
                    </a:cubicBezTo>
                    <a:cubicBezTo>
                      <a:pt x="85461" y="18741"/>
                      <a:pt x="130707" y="0"/>
                      <a:pt x="177885" y="0"/>
                    </a:cubicBezTo>
                    <a:close/>
                  </a:path>
                </a:pathLst>
              </a:custGeom>
              <a:ln w="19050" cap="rnd">
                <a:solidFill>
                  <a:srgbClr val="FFC94A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85725"/>
                <a:ext cx="378267" cy="449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87"/>
                  </a:lnSpc>
                </a:pPr>
                <a:endParaRPr>
                  <a:latin typeface="+mj-ea"/>
                  <a:ea typeface="+mj-ea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555224" y="363849"/>
              <a:ext cx="719502" cy="1113816"/>
              <a:chOff x="0" y="0"/>
              <a:chExt cx="142124" cy="22001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2124" cy="220013"/>
              </a:xfrm>
              <a:custGeom>
                <a:avLst/>
                <a:gdLst/>
                <a:ahLst/>
                <a:cxnLst/>
                <a:rect l="l" t="t" r="r" b="b"/>
                <a:pathLst>
                  <a:path w="142124" h="220013">
                    <a:moveTo>
                      <a:pt x="0" y="0"/>
                    </a:moveTo>
                    <a:lnTo>
                      <a:pt x="142124" y="0"/>
                    </a:lnTo>
                    <a:lnTo>
                      <a:pt x="142124" y="220013"/>
                    </a:lnTo>
                    <a:lnTo>
                      <a:pt x="0" y="2200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 dirty="0">
                  <a:latin typeface="KoPubWorld돋움체 Light" panose="00000300000000000000" pitchFamily="2" charset="-127"/>
                  <a:ea typeface="KoPubWorld돋움체 Light" panose="00000300000000000000" pitchFamily="2" charset="-127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85725"/>
                <a:ext cx="142124" cy="3057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87"/>
                  </a:lnSpc>
                </a:pPr>
                <a:endParaRPr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8737748" y="2883939"/>
            <a:ext cx="3086100" cy="1244677"/>
            <a:chOff x="0" y="0"/>
            <a:chExt cx="812800" cy="2776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277634"/>
            </a:xfrm>
            <a:custGeom>
              <a:avLst/>
              <a:gdLst/>
              <a:ahLst/>
              <a:cxnLst/>
              <a:rect l="l" t="t" r="r" b="b"/>
              <a:pathLst>
                <a:path w="812800" h="277634">
                  <a:moveTo>
                    <a:pt x="0" y="0"/>
                  </a:moveTo>
                  <a:lnTo>
                    <a:pt x="812800" y="0"/>
                  </a:lnTo>
                  <a:lnTo>
                    <a:pt x="812800" y="277634"/>
                  </a:lnTo>
                  <a:lnTo>
                    <a:pt x="0" y="277634"/>
                  </a:lnTo>
                  <a:close/>
                </a:path>
              </a:pathLst>
            </a:custGeom>
            <a:solidFill>
              <a:srgbClr val="FF8A3D"/>
            </a:solidFill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85725"/>
              <a:ext cx="812800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sp>
        <p:nvSpPr>
          <p:cNvPr id="40" name="AutoShape 40"/>
          <p:cNvSpPr/>
          <p:nvPr/>
        </p:nvSpPr>
        <p:spPr>
          <a:xfrm>
            <a:off x="7513962" y="5280007"/>
            <a:ext cx="1305896" cy="0"/>
          </a:xfrm>
          <a:prstGeom prst="line">
            <a:avLst/>
          </a:prstGeom>
          <a:ln w="19050" cap="flat">
            <a:solidFill>
              <a:srgbClr val="FFC9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8636687" y="3351825"/>
            <a:ext cx="202121" cy="20212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3D"/>
            </a:solidFill>
            <a:ln w="38100" cap="sq">
              <a:solidFill>
                <a:srgbClr val="FDFDF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163780" y="4701947"/>
            <a:ext cx="4267059" cy="110536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JSON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형식의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텍스트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데이터로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구성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질문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,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답변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,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직무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카테고리</a:t>
            </a:r>
            <a:r>
              <a:rPr lang="ko-KR" alt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로 구성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꼬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리질문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생성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및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맞춤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코칭에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활용</a:t>
            </a:r>
            <a:endParaRPr lang="en-US" sz="1600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905184" y="786637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8"/>
              </a:lnSpc>
              <a:spcBef>
                <a:spcPct val="0"/>
              </a:spcBef>
            </a:pPr>
            <a:r>
              <a:rPr lang="en-US" sz="2600" b="1" u="none" strike="noStrike" spc="-39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데이터</a:t>
            </a:r>
            <a:r>
              <a:rPr lang="en-US" sz="2600" b="1" u="none" strike="noStrike" spc="-39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lang="en-US" sz="2600" b="1" u="none" strike="noStrike" spc="-39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설명</a:t>
            </a:r>
            <a:endParaRPr lang="en-US" sz="2600" b="1" u="none" strike="noStrike" spc="-39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38961" y="830369"/>
            <a:ext cx="470068" cy="34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+mj-ea"/>
                <a:ea typeface="+mj-ea"/>
                <a:cs typeface="Helios Extended Bold"/>
                <a:sym typeface="Helios Extended Bold"/>
              </a:rPr>
              <a:t>07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27310" y="3310012"/>
            <a:ext cx="181069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4"/>
              </a:lnSpc>
            </a:pPr>
            <a:r>
              <a:rPr lang="en-US" sz="191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데이터</a:t>
            </a:r>
            <a:r>
              <a:rPr lang="en-US" sz="191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lang="ko-KR" altLang="en-US" sz="191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출처</a:t>
            </a:r>
            <a:endParaRPr lang="en-US" sz="1910" b="1" dirty="0">
              <a:solidFill>
                <a:srgbClr val="FDFDF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2165762" y="3152334"/>
            <a:ext cx="4247176" cy="707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AI Hub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채용면접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인터뷰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데이터셋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  <a:r>
              <a:rPr lang="en-US" sz="1600" dirty="0" err="1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활용</a:t>
            </a:r>
            <a:r>
              <a:rPr lang="en-US" sz="16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spc="-1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다양한 직군</a:t>
            </a:r>
            <a:r>
              <a:rPr lang="en-US" altLang="ko-KR" sz="1600" spc="-1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·</a:t>
            </a:r>
            <a:r>
              <a:rPr lang="ko-KR" altLang="en-US" sz="1600" spc="-100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</a:rPr>
              <a:t>직무별 실제 면접 질문 및 답변으로 구성</a:t>
            </a:r>
            <a:endParaRPr lang="en-US" sz="1600" spc="-100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sp>
        <p:nvSpPr>
          <p:cNvPr id="64" name="TextBox 48">
            <a:extLst>
              <a:ext uri="{FF2B5EF4-FFF2-40B4-BE49-F238E27FC236}">
                <a16:creationId xmlns:a16="http://schemas.microsoft.com/office/drawing/2014/main" id="{ED0E5B67-4620-49DC-55A2-99B22CF185E4}"/>
              </a:ext>
            </a:extLst>
          </p:cNvPr>
          <p:cNvSpPr txBox="1"/>
          <p:nvPr/>
        </p:nvSpPr>
        <p:spPr>
          <a:xfrm>
            <a:off x="9395776" y="6553878"/>
            <a:ext cx="1810699" cy="318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4"/>
              </a:lnSpc>
            </a:pPr>
            <a:r>
              <a:rPr lang="en-US" sz="1910" b="1" dirty="0" err="1">
                <a:solidFill>
                  <a:srgbClr val="FDFDFB"/>
                </a:solidFill>
                <a:latin typeface="+mj-ea"/>
                <a:ea typeface="+mj-ea"/>
                <a:cs typeface="Noto Sans Kr Semi-Bold"/>
                <a:sym typeface="Noto Sans Kr Semi-Bold"/>
              </a:rPr>
              <a:t>데이터</a:t>
            </a:r>
            <a:r>
              <a:rPr lang="en-US" sz="1910" b="1" dirty="0">
                <a:solidFill>
                  <a:srgbClr val="FDFDFB"/>
                </a:solidFill>
                <a:latin typeface="+mj-ea"/>
                <a:ea typeface="+mj-ea"/>
                <a:cs typeface="Noto Sans Kr Semi-Bold"/>
                <a:sym typeface="Noto Sans Kr Semi-Bold"/>
              </a:rPr>
              <a:t> URL</a:t>
            </a:r>
          </a:p>
        </p:txBody>
      </p:sp>
      <p:grpSp>
        <p:nvGrpSpPr>
          <p:cNvPr id="77" name="Group 21">
            <a:extLst>
              <a:ext uri="{FF2B5EF4-FFF2-40B4-BE49-F238E27FC236}">
                <a16:creationId xmlns:a16="http://schemas.microsoft.com/office/drawing/2014/main" id="{BB8D3419-2C24-CDDB-B4DE-0AB98E9118A6}"/>
              </a:ext>
            </a:extLst>
          </p:cNvPr>
          <p:cNvGrpSpPr/>
          <p:nvPr/>
        </p:nvGrpSpPr>
        <p:grpSpPr>
          <a:xfrm>
            <a:off x="11637040" y="4656135"/>
            <a:ext cx="5050760" cy="1244677"/>
            <a:chOff x="0" y="0"/>
            <a:chExt cx="2068572" cy="277634"/>
          </a:xfrm>
        </p:grpSpPr>
        <p:sp>
          <p:nvSpPr>
            <p:cNvPr id="78" name="Freeform 22">
              <a:extLst>
                <a:ext uri="{FF2B5EF4-FFF2-40B4-BE49-F238E27FC236}">
                  <a16:creationId xmlns:a16="http://schemas.microsoft.com/office/drawing/2014/main" id="{692911F6-CB45-E5CA-23D4-AC1301C69E6D}"/>
                </a:ext>
              </a:extLst>
            </p:cNvPr>
            <p:cNvSpPr/>
            <p:nvPr/>
          </p:nvSpPr>
          <p:spPr>
            <a:xfrm>
              <a:off x="0" y="0"/>
              <a:ext cx="2068573" cy="277634"/>
            </a:xfrm>
            <a:custGeom>
              <a:avLst/>
              <a:gdLst/>
              <a:ahLst/>
              <a:cxnLst/>
              <a:rect l="l" t="t" r="r" b="b"/>
              <a:pathLst>
                <a:path w="2068573" h="277634">
                  <a:moveTo>
                    <a:pt x="0" y="0"/>
                  </a:moveTo>
                  <a:lnTo>
                    <a:pt x="2068573" y="0"/>
                  </a:lnTo>
                  <a:lnTo>
                    <a:pt x="2068573" y="277634"/>
                  </a:lnTo>
                  <a:lnTo>
                    <a:pt x="0" y="277634"/>
                  </a:lnTo>
                  <a:close/>
                </a:path>
              </a:pathLst>
            </a:custGeom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79" name="TextBox 23">
              <a:extLst>
                <a:ext uri="{FF2B5EF4-FFF2-40B4-BE49-F238E27FC236}">
                  <a16:creationId xmlns:a16="http://schemas.microsoft.com/office/drawing/2014/main" id="{14CCCD6D-62F3-3CE8-A44D-1B77E5FCF0E4}"/>
                </a:ext>
              </a:extLst>
            </p:cNvPr>
            <p:cNvSpPr txBox="1"/>
            <p:nvPr/>
          </p:nvSpPr>
          <p:spPr>
            <a:xfrm>
              <a:off x="0" y="-85725"/>
              <a:ext cx="2068572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80" name="Group 31">
            <a:extLst>
              <a:ext uri="{FF2B5EF4-FFF2-40B4-BE49-F238E27FC236}">
                <a16:creationId xmlns:a16="http://schemas.microsoft.com/office/drawing/2014/main" id="{48D8EC25-3F46-C37C-339C-0E557D8B5CEF}"/>
              </a:ext>
            </a:extLst>
          </p:cNvPr>
          <p:cNvGrpSpPr/>
          <p:nvPr/>
        </p:nvGrpSpPr>
        <p:grpSpPr>
          <a:xfrm>
            <a:off x="8747023" y="4665646"/>
            <a:ext cx="3086100" cy="1244677"/>
            <a:chOff x="0" y="0"/>
            <a:chExt cx="812800" cy="277634"/>
          </a:xfrm>
        </p:grpSpPr>
        <p:sp>
          <p:nvSpPr>
            <p:cNvPr id="81" name="Freeform 32">
              <a:extLst>
                <a:ext uri="{FF2B5EF4-FFF2-40B4-BE49-F238E27FC236}">
                  <a16:creationId xmlns:a16="http://schemas.microsoft.com/office/drawing/2014/main" id="{C8EB7EB8-D41C-25D2-1042-134B37DA9607}"/>
                </a:ext>
              </a:extLst>
            </p:cNvPr>
            <p:cNvSpPr/>
            <p:nvPr/>
          </p:nvSpPr>
          <p:spPr>
            <a:xfrm>
              <a:off x="0" y="0"/>
              <a:ext cx="812800" cy="277634"/>
            </a:xfrm>
            <a:custGeom>
              <a:avLst/>
              <a:gdLst/>
              <a:ahLst/>
              <a:cxnLst/>
              <a:rect l="l" t="t" r="r" b="b"/>
              <a:pathLst>
                <a:path w="812800" h="277634">
                  <a:moveTo>
                    <a:pt x="0" y="0"/>
                  </a:moveTo>
                  <a:lnTo>
                    <a:pt x="812800" y="0"/>
                  </a:lnTo>
                  <a:lnTo>
                    <a:pt x="812800" y="277634"/>
                  </a:lnTo>
                  <a:lnTo>
                    <a:pt x="0" y="277634"/>
                  </a:lnTo>
                  <a:close/>
                </a:path>
              </a:pathLst>
            </a:custGeom>
            <a:solidFill>
              <a:srgbClr val="FF8A3D"/>
            </a:solidFill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2" name="TextBox 33">
              <a:extLst>
                <a:ext uri="{FF2B5EF4-FFF2-40B4-BE49-F238E27FC236}">
                  <a16:creationId xmlns:a16="http://schemas.microsoft.com/office/drawing/2014/main" id="{7C286044-6DB7-3FBE-3D1D-CA0B2D380B3D}"/>
                </a:ext>
              </a:extLst>
            </p:cNvPr>
            <p:cNvSpPr txBox="1"/>
            <p:nvPr/>
          </p:nvSpPr>
          <p:spPr>
            <a:xfrm>
              <a:off x="0" y="-85725"/>
              <a:ext cx="812800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sp>
        <p:nvSpPr>
          <p:cNvPr id="65" name="TextBox 49">
            <a:extLst>
              <a:ext uri="{FF2B5EF4-FFF2-40B4-BE49-F238E27FC236}">
                <a16:creationId xmlns:a16="http://schemas.microsoft.com/office/drawing/2014/main" id="{BC6F687C-2EE1-3D98-03E8-5C59BDC2BF1E}"/>
              </a:ext>
            </a:extLst>
          </p:cNvPr>
          <p:cNvSpPr txBox="1"/>
          <p:nvPr/>
        </p:nvSpPr>
        <p:spPr>
          <a:xfrm>
            <a:off x="12163927" y="6642338"/>
            <a:ext cx="4250846" cy="109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181"/>
              </a:lnSpc>
            </a:pPr>
            <a:r>
              <a:rPr lang="en-US" sz="1100" spc="-84" dirty="0">
                <a:solidFill>
                  <a:srgbClr val="22222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"/>
                <a:hlinkClick r:id="rId3"/>
              </a:rPr>
              <a:t>https://aihub.or.kr/aihubdata/data/view.do?currMenu=115&amp;topMenu=100&amp;searchKeyword=%EC%B1%84%EC%9A%A9%EB%A9%B4%EC%A0%91%20%EC%9D%B8%ED%84%B0%EB%B7%B0%20%EB%8D%B0%EC%9D%B4%ED%84%B0&amp;aihubDataSe=data&amp;dataSetSn=71592</a:t>
            </a:r>
            <a:endParaRPr lang="en-US" sz="1100" spc="-84" dirty="0">
              <a:solidFill>
                <a:srgbClr val="222222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"/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FC35C15D-2265-62CF-931A-801121B90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48"/>
          <a:stretch>
            <a:fillRect/>
          </a:stretch>
        </p:blipFill>
        <p:spPr>
          <a:xfrm>
            <a:off x="1582825" y="3759017"/>
            <a:ext cx="5931137" cy="2932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19050">
            <a:solidFill>
              <a:schemeClr val="accent6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83" name="Group 41">
            <a:extLst>
              <a:ext uri="{FF2B5EF4-FFF2-40B4-BE49-F238E27FC236}">
                <a16:creationId xmlns:a16="http://schemas.microsoft.com/office/drawing/2014/main" id="{D9795DC4-9638-2356-89B4-FAF04111A925}"/>
              </a:ext>
            </a:extLst>
          </p:cNvPr>
          <p:cNvGrpSpPr/>
          <p:nvPr/>
        </p:nvGrpSpPr>
        <p:grpSpPr>
          <a:xfrm>
            <a:off x="8636686" y="5182345"/>
            <a:ext cx="202121" cy="202121"/>
            <a:chOff x="0" y="0"/>
            <a:chExt cx="812800" cy="812800"/>
          </a:xfrm>
        </p:grpSpPr>
        <p:sp>
          <p:nvSpPr>
            <p:cNvPr id="84" name="Freeform 42">
              <a:extLst>
                <a:ext uri="{FF2B5EF4-FFF2-40B4-BE49-F238E27FC236}">
                  <a16:creationId xmlns:a16="http://schemas.microsoft.com/office/drawing/2014/main" id="{51B21B3E-95C5-81A0-15DE-858F35E301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3D"/>
            </a:solidFill>
            <a:ln w="38100" cap="sq">
              <a:solidFill>
                <a:srgbClr val="FDFDF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5" name="TextBox 43">
              <a:extLst>
                <a:ext uri="{FF2B5EF4-FFF2-40B4-BE49-F238E27FC236}">
                  <a16:creationId xmlns:a16="http://schemas.microsoft.com/office/drawing/2014/main" id="{D791A706-7D33-1BFA-648B-B2FFEEFA557D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95" name="Group 21">
            <a:extLst>
              <a:ext uri="{FF2B5EF4-FFF2-40B4-BE49-F238E27FC236}">
                <a16:creationId xmlns:a16="http://schemas.microsoft.com/office/drawing/2014/main" id="{2742EF59-AD31-A27E-9D33-E5E2A3EA6B33}"/>
              </a:ext>
            </a:extLst>
          </p:cNvPr>
          <p:cNvGrpSpPr/>
          <p:nvPr/>
        </p:nvGrpSpPr>
        <p:grpSpPr>
          <a:xfrm>
            <a:off x="11682493" y="6565823"/>
            <a:ext cx="5050760" cy="1244677"/>
            <a:chOff x="0" y="0"/>
            <a:chExt cx="2068572" cy="277634"/>
          </a:xfrm>
        </p:grpSpPr>
        <p:sp>
          <p:nvSpPr>
            <p:cNvPr id="96" name="Freeform 22">
              <a:extLst>
                <a:ext uri="{FF2B5EF4-FFF2-40B4-BE49-F238E27FC236}">
                  <a16:creationId xmlns:a16="http://schemas.microsoft.com/office/drawing/2014/main" id="{145EEC5A-8C40-9966-57E1-DC5144C152E7}"/>
                </a:ext>
              </a:extLst>
            </p:cNvPr>
            <p:cNvSpPr/>
            <p:nvPr/>
          </p:nvSpPr>
          <p:spPr>
            <a:xfrm>
              <a:off x="0" y="0"/>
              <a:ext cx="2068573" cy="277634"/>
            </a:xfrm>
            <a:custGeom>
              <a:avLst/>
              <a:gdLst/>
              <a:ahLst/>
              <a:cxnLst/>
              <a:rect l="l" t="t" r="r" b="b"/>
              <a:pathLst>
                <a:path w="2068573" h="277634">
                  <a:moveTo>
                    <a:pt x="0" y="0"/>
                  </a:moveTo>
                  <a:lnTo>
                    <a:pt x="2068573" y="0"/>
                  </a:lnTo>
                  <a:lnTo>
                    <a:pt x="2068573" y="277634"/>
                  </a:lnTo>
                  <a:lnTo>
                    <a:pt x="0" y="277634"/>
                  </a:lnTo>
                  <a:close/>
                </a:path>
              </a:pathLst>
            </a:custGeom>
            <a:ln w="19050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97" name="TextBox 23">
              <a:extLst>
                <a:ext uri="{FF2B5EF4-FFF2-40B4-BE49-F238E27FC236}">
                  <a16:creationId xmlns:a16="http://schemas.microsoft.com/office/drawing/2014/main" id="{561F8C7E-11BE-B90C-7ACB-B35AB1D2BEEC}"/>
                </a:ext>
              </a:extLst>
            </p:cNvPr>
            <p:cNvSpPr txBox="1"/>
            <p:nvPr/>
          </p:nvSpPr>
          <p:spPr>
            <a:xfrm>
              <a:off x="0" y="-85725"/>
              <a:ext cx="2068572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98" name="Group 31">
            <a:extLst>
              <a:ext uri="{FF2B5EF4-FFF2-40B4-BE49-F238E27FC236}">
                <a16:creationId xmlns:a16="http://schemas.microsoft.com/office/drawing/2014/main" id="{C031FA77-AE26-93B3-F674-34FAD3D4A818}"/>
              </a:ext>
            </a:extLst>
          </p:cNvPr>
          <p:cNvGrpSpPr/>
          <p:nvPr/>
        </p:nvGrpSpPr>
        <p:grpSpPr>
          <a:xfrm>
            <a:off x="8759347" y="6565823"/>
            <a:ext cx="3086100" cy="1244677"/>
            <a:chOff x="0" y="0"/>
            <a:chExt cx="812800" cy="277634"/>
          </a:xfrm>
        </p:grpSpPr>
        <p:sp>
          <p:nvSpPr>
            <p:cNvPr id="99" name="Freeform 32">
              <a:extLst>
                <a:ext uri="{FF2B5EF4-FFF2-40B4-BE49-F238E27FC236}">
                  <a16:creationId xmlns:a16="http://schemas.microsoft.com/office/drawing/2014/main" id="{FBFCDAAE-5E72-ADF6-675E-700F989D76F1}"/>
                </a:ext>
              </a:extLst>
            </p:cNvPr>
            <p:cNvSpPr/>
            <p:nvPr/>
          </p:nvSpPr>
          <p:spPr>
            <a:xfrm>
              <a:off x="0" y="0"/>
              <a:ext cx="812800" cy="277634"/>
            </a:xfrm>
            <a:custGeom>
              <a:avLst/>
              <a:gdLst/>
              <a:ahLst/>
              <a:cxnLst/>
              <a:rect l="l" t="t" r="r" b="b"/>
              <a:pathLst>
                <a:path w="812800" h="277634">
                  <a:moveTo>
                    <a:pt x="0" y="0"/>
                  </a:moveTo>
                  <a:lnTo>
                    <a:pt x="812800" y="0"/>
                  </a:lnTo>
                  <a:lnTo>
                    <a:pt x="812800" y="277634"/>
                  </a:lnTo>
                  <a:lnTo>
                    <a:pt x="0" y="277634"/>
                  </a:lnTo>
                  <a:close/>
                </a:path>
              </a:pathLst>
            </a:custGeom>
            <a:solidFill>
              <a:srgbClr val="FF8A3D"/>
            </a:solidFill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00" name="TextBox 33">
              <a:extLst>
                <a:ext uri="{FF2B5EF4-FFF2-40B4-BE49-F238E27FC236}">
                  <a16:creationId xmlns:a16="http://schemas.microsoft.com/office/drawing/2014/main" id="{D1C9D6BB-D4D4-0E31-16F3-DE9ABE29BF07}"/>
                </a:ext>
              </a:extLst>
            </p:cNvPr>
            <p:cNvSpPr txBox="1"/>
            <p:nvPr/>
          </p:nvSpPr>
          <p:spPr>
            <a:xfrm>
              <a:off x="0" y="-85725"/>
              <a:ext cx="812800" cy="363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grpSp>
        <p:nvGrpSpPr>
          <p:cNvPr id="101" name="Group 41">
            <a:extLst>
              <a:ext uri="{FF2B5EF4-FFF2-40B4-BE49-F238E27FC236}">
                <a16:creationId xmlns:a16="http://schemas.microsoft.com/office/drawing/2014/main" id="{7D060DE5-3163-6E12-3091-F0AD28B0AF75}"/>
              </a:ext>
            </a:extLst>
          </p:cNvPr>
          <p:cNvGrpSpPr/>
          <p:nvPr/>
        </p:nvGrpSpPr>
        <p:grpSpPr>
          <a:xfrm>
            <a:off x="8639658" y="7087100"/>
            <a:ext cx="202121" cy="202121"/>
            <a:chOff x="0" y="0"/>
            <a:chExt cx="812800" cy="812800"/>
          </a:xfrm>
        </p:grpSpPr>
        <p:sp>
          <p:nvSpPr>
            <p:cNvPr id="102" name="Freeform 42">
              <a:extLst>
                <a:ext uri="{FF2B5EF4-FFF2-40B4-BE49-F238E27FC236}">
                  <a16:creationId xmlns:a16="http://schemas.microsoft.com/office/drawing/2014/main" id="{2B6C9DAA-4F3C-1AEA-44FD-C031C14172C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3D"/>
            </a:solidFill>
            <a:ln w="38100" cap="sq">
              <a:solidFill>
                <a:srgbClr val="FDFDF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03" name="TextBox 43">
              <a:extLst>
                <a:ext uri="{FF2B5EF4-FFF2-40B4-BE49-F238E27FC236}">
                  <a16:creationId xmlns:a16="http://schemas.microsoft.com/office/drawing/2014/main" id="{EEA94C47-83F6-F60E-5676-9B0AA94FF679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dirty="0">
                <a:latin typeface="+mj-ea"/>
                <a:ea typeface="+mj-ea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9375448" y="5123296"/>
            <a:ext cx="181069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4"/>
              </a:lnSpc>
            </a:pPr>
            <a:r>
              <a:rPr lang="en-US" sz="191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데이터</a:t>
            </a:r>
            <a:r>
              <a:rPr lang="en-US" sz="191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lang="en-US" sz="191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형식</a:t>
            </a:r>
            <a:endParaRPr lang="en-US" sz="1910" b="1" dirty="0">
              <a:solidFill>
                <a:srgbClr val="FDFDFB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104" name="TextBox 48">
            <a:extLst>
              <a:ext uri="{FF2B5EF4-FFF2-40B4-BE49-F238E27FC236}">
                <a16:creationId xmlns:a16="http://schemas.microsoft.com/office/drawing/2014/main" id="{4A527250-7B03-5584-73F0-A723C298CCA3}"/>
              </a:ext>
            </a:extLst>
          </p:cNvPr>
          <p:cNvSpPr txBox="1"/>
          <p:nvPr/>
        </p:nvSpPr>
        <p:spPr>
          <a:xfrm>
            <a:off x="9366100" y="6996406"/>
            <a:ext cx="181069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4"/>
              </a:lnSpc>
            </a:pPr>
            <a:r>
              <a:rPr lang="en-US" sz="1910" b="1" dirty="0" err="1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데이터</a:t>
            </a:r>
            <a:r>
              <a:rPr lang="en-US" sz="1910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URL</a:t>
            </a:r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id="{760EE471-4671-17D2-565D-5E285B7F220B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99A7208-D6D6-5111-078F-89CA8ABF5EC8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464F62A9-1E79-C940-DA27-831867BF93D4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j-ea"/>
                <a:ea typeface="+mj-ea"/>
              </a:endParaRPr>
            </a:p>
          </p:txBody>
        </p:sp>
      </p:grpSp>
      <p:sp>
        <p:nvSpPr>
          <p:cNvPr id="34" name="TextBox 52">
            <a:extLst>
              <a:ext uri="{FF2B5EF4-FFF2-40B4-BE49-F238E27FC236}">
                <a16:creationId xmlns:a16="http://schemas.microsoft.com/office/drawing/2014/main" id="{896A3558-2860-EB77-6A05-EDE77D8AC454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02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335C3-254A-F099-8DCA-9A158970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EA0788-0BC8-A063-930E-073343AE1CF8}"/>
              </a:ext>
            </a:extLst>
          </p:cNvPr>
          <p:cNvGrpSpPr/>
          <p:nvPr/>
        </p:nvGrpSpPr>
        <p:grpSpPr>
          <a:xfrm>
            <a:off x="630468" y="590348"/>
            <a:ext cx="17036589" cy="9116673"/>
            <a:chOff x="0" y="0"/>
            <a:chExt cx="5109002" cy="27272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B672792-57A0-01F8-1789-B3321FC4DD99}"/>
                </a:ext>
              </a:extLst>
            </p:cNvPr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2FE18DA-C39F-811F-90A5-6833A0A283E7}"/>
                </a:ext>
              </a:extLst>
            </p:cNvPr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+mn-ea"/>
                <a:cs typeface="+mn-cs"/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02983838-E190-29ED-C6B3-59E624AED6C5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8DA0DD8-D213-21DD-0A31-6657354E8581}"/>
              </a:ext>
            </a:extLst>
          </p:cNvPr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65B7072-0021-35E3-B8A6-8E38B7E55C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0001083-4A8E-90E9-2359-F65C511873DA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B2C9280-B3FC-21BA-3830-1CF2DA508F1F}"/>
              </a:ext>
            </a:extLst>
          </p:cNvPr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E1085B0-5B26-E843-F989-BC184C8BDE4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50BC443-F08B-B90D-4D61-C2642DD8469F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D6E96D6-D1C1-F8BC-C560-E25DF43BA773}"/>
              </a:ext>
            </a:extLst>
          </p:cNvPr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96F430C-E8C0-A80C-0B52-C20ECD2C1CB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52EEB1F-0491-9F73-AACE-659B79985830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51" name="TextBox 51">
            <a:extLst>
              <a:ext uri="{FF2B5EF4-FFF2-40B4-BE49-F238E27FC236}">
                <a16:creationId xmlns:a16="http://schemas.microsoft.com/office/drawing/2014/main" id="{7D02D754-41B3-8D09-A9C6-05E15EDA9D97}"/>
              </a:ext>
            </a:extLst>
          </p:cNvPr>
          <p:cNvSpPr txBox="1"/>
          <p:nvPr/>
        </p:nvSpPr>
        <p:spPr>
          <a:xfrm>
            <a:off x="1847179" y="776759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10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600" b="1" spc="-39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핵심 기능</a:t>
            </a:r>
            <a:endParaRPr kumimoji="0" lang="en-US" sz="2600" b="1" i="0" u="none" strike="noStrike" kern="1200" cap="none" spc="-39" normalizeH="0" baseline="0" noProof="0" dirty="0">
              <a:ln>
                <a:noFill/>
              </a:ln>
              <a:solidFill>
                <a:srgbClr val="6A4A2F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A63EC27E-F1EC-4763-1099-7AD33E467E62}"/>
              </a:ext>
            </a:extLst>
          </p:cNvPr>
          <p:cNvSpPr txBox="1"/>
          <p:nvPr/>
        </p:nvSpPr>
        <p:spPr>
          <a:xfrm>
            <a:off x="938961" y="830369"/>
            <a:ext cx="470068" cy="34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3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98" b="1" i="0" u="none" strike="noStrike" kern="1200" cap="none" spc="0" normalizeH="0" baseline="0" noProof="0" dirty="0">
                <a:ln>
                  <a:noFill/>
                </a:ln>
                <a:solidFill>
                  <a:srgbClr val="FDFDFB"/>
                </a:solidFill>
                <a:effectLst/>
                <a:uLnTx/>
                <a:uFillTx/>
                <a:latin typeface="+mn-ea"/>
                <a:cs typeface="Helios Extended Bold"/>
                <a:sym typeface="Helios Extended Bold"/>
              </a:rPr>
              <a:t>08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CC42357-FB80-41F3-98E3-E215EEE36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" t="12338" r="3191" b="4842"/>
          <a:stretch>
            <a:fillRect/>
          </a:stretch>
        </p:blipFill>
        <p:spPr>
          <a:xfrm>
            <a:off x="2438400" y="1643193"/>
            <a:ext cx="13411200" cy="7909683"/>
          </a:xfrm>
          <a:prstGeom prst="rect">
            <a:avLst/>
          </a:prstGeom>
        </p:spPr>
      </p:pic>
      <p:grpSp>
        <p:nvGrpSpPr>
          <p:cNvPr id="18" name="Group 15">
            <a:extLst>
              <a:ext uri="{FF2B5EF4-FFF2-40B4-BE49-F238E27FC236}">
                <a16:creationId xmlns:a16="http://schemas.microsoft.com/office/drawing/2014/main" id="{109650FD-14BE-170A-D20F-2072255896C5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073B6E4-D652-AC3B-527B-A5D6C7D2AD4B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ADC4CF5F-F1E3-9D1D-C278-D8420132468B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2" name="TextBox 52">
            <a:extLst>
              <a:ext uri="{FF2B5EF4-FFF2-40B4-BE49-F238E27FC236}">
                <a16:creationId xmlns:a16="http://schemas.microsoft.com/office/drawing/2014/main" id="{55CA55FF-9E0F-EF0C-62CD-8BF61B21066D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79082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+mn-ea"/>
                <a:cs typeface="+mn-cs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847179" y="776759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10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1200" cap="none" spc="-39" normalizeH="0" baseline="0" noProof="0" dirty="0">
                <a:ln>
                  <a:noFill/>
                </a:ln>
                <a:solidFill>
                  <a:srgbClr val="6A4A2F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기술 스택</a:t>
            </a:r>
            <a:endParaRPr kumimoji="0" lang="en-US" sz="2600" b="1" i="0" u="none" strike="noStrike" kern="1200" cap="none" spc="-39" normalizeH="0" baseline="0" noProof="0" dirty="0">
              <a:ln>
                <a:noFill/>
              </a:ln>
              <a:solidFill>
                <a:srgbClr val="6A4A2F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8961" y="830369"/>
            <a:ext cx="470068" cy="34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3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98" b="1" i="0" u="none" strike="noStrike" kern="1200" cap="none" spc="0" normalizeH="0" baseline="0" noProof="0" dirty="0">
                <a:ln>
                  <a:noFill/>
                </a:ln>
                <a:solidFill>
                  <a:srgbClr val="FDFDFB"/>
                </a:solidFill>
                <a:effectLst/>
                <a:uLnTx/>
                <a:uFillTx/>
                <a:latin typeface="+mn-ea"/>
                <a:cs typeface="Helios Extended Bold"/>
                <a:sym typeface="Helios Extended Bold"/>
              </a:rPr>
              <a:t>09</a:t>
            </a:r>
          </a:p>
        </p:txBody>
      </p:sp>
      <p:grpSp>
        <p:nvGrpSpPr>
          <p:cNvPr id="43" name="Group 20">
            <a:extLst>
              <a:ext uri="{FF2B5EF4-FFF2-40B4-BE49-F238E27FC236}">
                <a16:creationId xmlns:a16="http://schemas.microsoft.com/office/drawing/2014/main" id="{54865B1E-02ED-BDFE-7D72-27A586F228DA}"/>
              </a:ext>
            </a:extLst>
          </p:cNvPr>
          <p:cNvGrpSpPr/>
          <p:nvPr/>
        </p:nvGrpSpPr>
        <p:grpSpPr>
          <a:xfrm>
            <a:off x="1251546" y="2628900"/>
            <a:ext cx="5080839" cy="2789222"/>
            <a:chOff x="0" y="0"/>
            <a:chExt cx="1186500" cy="502168"/>
          </a:xfrm>
        </p:grpSpPr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181F446B-7DD1-CECE-3895-5EB6130FC47B}"/>
                </a:ext>
              </a:extLst>
            </p:cNvPr>
            <p:cNvSpPr/>
            <p:nvPr/>
          </p:nvSpPr>
          <p:spPr>
            <a:xfrm>
              <a:off x="0" y="0"/>
              <a:ext cx="1186500" cy="502168"/>
            </a:xfrm>
            <a:custGeom>
              <a:avLst/>
              <a:gdLst/>
              <a:ahLst/>
              <a:cxnLst/>
              <a:rect l="l" t="t" r="r" b="b"/>
              <a:pathLst>
                <a:path w="1186500" h="502168">
                  <a:moveTo>
                    <a:pt x="0" y="0"/>
                  </a:moveTo>
                  <a:lnTo>
                    <a:pt x="1186500" y="0"/>
                  </a:lnTo>
                  <a:lnTo>
                    <a:pt x="1186500" y="502168"/>
                  </a:lnTo>
                  <a:lnTo>
                    <a:pt x="0" y="5021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5" name="TextBox 22">
              <a:extLst>
                <a:ext uri="{FF2B5EF4-FFF2-40B4-BE49-F238E27FC236}">
                  <a16:creationId xmlns:a16="http://schemas.microsoft.com/office/drawing/2014/main" id="{D6DDAD41-B039-FF0F-AF39-37D8781E3F42}"/>
                </a:ext>
              </a:extLst>
            </p:cNvPr>
            <p:cNvSpPr txBox="1"/>
            <p:nvPr/>
          </p:nvSpPr>
          <p:spPr>
            <a:xfrm>
              <a:off x="0" y="76200"/>
              <a:ext cx="1186500" cy="425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2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67" name="TextBox 44">
            <a:extLst>
              <a:ext uri="{FF2B5EF4-FFF2-40B4-BE49-F238E27FC236}">
                <a16:creationId xmlns:a16="http://schemas.microsoft.com/office/drawing/2014/main" id="{066D2488-5B30-9760-F9F1-B72E63BC36DC}"/>
              </a:ext>
            </a:extLst>
          </p:cNvPr>
          <p:cNvSpPr txBox="1"/>
          <p:nvPr/>
        </p:nvSpPr>
        <p:spPr>
          <a:xfrm>
            <a:off x="3337330" y="3064093"/>
            <a:ext cx="908510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+mn-ea"/>
                <a:cs typeface="Helios Extended"/>
                <a:sym typeface="Helios Extended"/>
              </a:rPr>
              <a:t>01</a:t>
            </a:r>
          </a:p>
        </p:txBody>
      </p:sp>
      <p:sp>
        <p:nvSpPr>
          <p:cNvPr id="73" name="TextBox 50">
            <a:extLst>
              <a:ext uri="{FF2B5EF4-FFF2-40B4-BE49-F238E27FC236}">
                <a16:creationId xmlns:a16="http://schemas.microsoft.com/office/drawing/2014/main" id="{D9C9BB7D-8421-B930-3F64-24874DAE3E03}"/>
              </a:ext>
            </a:extLst>
          </p:cNvPr>
          <p:cNvSpPr txBox="1"/>
          <p:nvPr/>
        </p:nvSpPr>
        <p:spPr>
          <a:xfrm>
            <a:off x="1338560" y="3387924"/>
            <a:ext cx="490605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-4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cs typeface="Noto Sans Kr Semi-Bold"/>
                <a:sym typeface="Noto Sans Kr Semi-Bold"/>
              </a:rPr>
              <a:t>Frontend / UI</a:t>
            </a:r>
          </a:p>
        </p:txBody>
      </p:sp>
      <p:grpSp>
        <p:nvGrpSpPr>
          <p:cNvPr id="91" name="Group 20">
            <a:extLst>
              <a:ext uri="{FF2B5EF4-FFF2-40B4-BE49-F238E27FC236}">
                <a16:creationId xmlns:a16="http://schemas.microsoft.com/office/drawing/2014/main" id="{76FA95D6-92DC-C4CE-D3E3-5B27EA36266E}"/>
              </a:ext>
            </a:extLst>
          </p:cNvPr>
          <p:cNvGrpSpPr/>
          <p:nvPr/>
        </p:nvGrpSpPr>
        <p:grpSpPr>
          <a:xfrm>
            <a:off x="6540501" y="2632364"/>
            <a:ext cx="5080839" cy="2789222"/>
            <a:chOff x="0" y="0"/>
            <a:chExt cx="1186500" cy="502168"/>
          </a:xfrm>
        </p:grpSpPr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A037817C-BABD-BAEC-1887-299245292F19}"/>
                </a:ext>
              </a:extLst>
            </p:cNvPr>
            <p:cNvSpPr/>
            <p:nvPr/>
          </p:nvSpPr>
          <p:spPr>
            <a:xfrm>
              <a:off x="0" y="0"/>
              <a:ext cx="1186500" cy="502168"/>
            </a:xfrm>
            <a:custGeom>
              <a:avLst/>
              <a:gdLst/>
              <a:ahLst/>
              <a:cxnLst/>
              <a:rect l="l" t="t" r="r" b="b"/>
              <a:pathLst>
                <a:path w="1186500" h="502168">
                  <a:moveTo>
                    <a:pt x="0" y="0"/>
                  </a:moveTo>
                  <a:lnTo>
                    <a:pt x="1186500" y="0"/>
                  </a:lnTo>
                  <a:lnTo>
                    <a:pt x="1186500" y="502168"/>
                  </a:lnTo>
                  <a:lnTo>
                    <a:pt x="0" y="5021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93" name="TextBox 22">
              <a:extLst>
                <a:ext uri="{FF2B5EF4-FFF2-40B4-BE49-F238E27FC236}">
                  <a16:creationId xmlns:a16="http://schemas.microsoft.com/office/drawing/2014/main" id="{8A028595-A723-CC43-2AF4-45AF34596C18}"/>
                </a:ext>
              </a:extLst>
            </p:cNvPr>
            <p:cNvSpPr txBox="1"/>
            <p:nvPr/>
          </p:nvSpPr>
          <p:spPr>
            <a:xfrm>
              <a:off x="0" y="76200"/>
              <a:ext cx="1186500" cy="425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2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95" name="TextBox 44">
            <a:extLst>
              <a:ext uri="{FF2B5EF4-FFF2-40B4-BE49-F238E27FC236}">
                <a16:creationId xmlns:a16="http://schemas.microsoft.com/office/drawing/2014/main" id="{820C62F6-E095-832E-24B2-7693D38F9D2F}"/>
              </a:ext>
            </a:extLst>
          </p:cNvPr>
          <p:cNvSpPr txBox="1"/>
          <p:nvPr/>
        </p:nvSpPr>
        <p:spPr>
          <a:xfrm>
            <a:off x="8626285" y="3067557"/>
            <a:ext cx="908510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+mn-ea"/>
                <a:cs typeface="Helios Extended"/>
                <a:sym typeface="Helios Extended"/>
              </a:rPr>
              <a:t>02</a:t>
            </a:r>
          </a:p>
        </p:txBody>
      </p:sp>
      <p:sp>
        <p:nvSpPr>
          <p:cNvPr id="96" name="TextBox 50">
            <a:extLst>
              <a:ext uri="{FF2B5EF4-FFF2-40B4-BE49-F238E27FC236}">
                <a16:creationId xmlns:a16="http://schemas.microsoft.com/office/drawing/2014/main" id="{47F4DFC7-DBDC-4FEE-F8D8-30EDCB7F9A5C}"/>
              </a:ext>
            </a:extLst>
          </p:cNvPr>
          <p:cNvSpPr txBox="1"/>
          <p:nvPr/>
        </p:nvSpPr>
        <p:spPr>
          <a:xfrm>
            <a:off x="6627515" y="3391388"/>
            <a:ext cx="490605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-4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cs typeface="Noto Sans Kr Semi-Bold"/>
                <a:sym typeface="Noto Sans Kr Semi-Bold"/>
              </a:rPr>
              <a:t>LLM &amp; AI Engine</a:t>
            </a:r>
          </a:p>
        </p:txBody>
      </p:sp>
      <p:grpSp>
        <p:nvGrpSpPr>
          <p:cNvPr id="97" name="Group 20">
            <a:extLst>
              <a:ext uri="{FF2B5EF4-FFF2-40B4-BE49-F238E27FC236}">
                <a16:creationId xmlns:a16="http://schemas.microsoft.com/office/drawing/2014/main" id="{4D599DC6-5073-83FD-B277-1F4CB430395B}"/>
              </a:ext>
            </a:extLst>
          </p:cNvPr>
          <p:cNvGrpSpPr/>
          <p:nvPr/>
        </p:nvGrpSpPr>
        <p:grpSpPr>
          <a:xfrm>
            <a:off x="11850334" y="2628900"/>
            <a:ext cx="5080839" cy="2789222"/>
            <a:chOff x="0" y="0"/>
            <a:chExt cx="1186500" cy="502168"/>
          </a:xfrm>
        </p:grpSpPr>
        <p:sp>
          <p:nvSpPr>
            <p:cNvPr id="98" name="Freeform 21">
              <a:extLst>
                <a:ext uri="{FF2B5EF4-FFF2-40B4-BE49-F238E27FC236}">
                  <a16:creationId xmlns:a16="http://schemas.microsoft.com/office/drawing/2014/main" id="{B80BDF8F-DB26-E6FD-20FC-97EBD19514FF}"/>
                </a:ext>
              </a:extLst>
            </p:cNvPr>
            <p:cNvSpPr/>
            <p:nvPr/>
          </p:nvSpPr>
          <p:spPr>
            <a:xfrm>
              <a:off x="0" y="0"/>
              <a:ext cx="1186500" cy="502168"/>
            </a:xfrm>
            <a:custGeom>
              <a:avLst/>
              <a:gdLst/>
              <a:ahLst/>
              <a:cxnLst/>
              <a:rect l="l" t="t" r="r" b="b"/>
              <a:pathLst>
                <a:path w="1186500" h="502168">
                  <a:moveTo>
                    <a:pt x="0" y="0"/>
                  </a:moveTo>
                  <a:lnTo>
                    <a:pt x="1186500" y="0"/>
                  </a:lnTo>
                  <a:lnTo>
                    <a:pt x="1186500" y="502168"/>
                  </a:lnTo>
                  <a:lnTo>
                    <a:pt x="0" y="5021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99" name="TextBox 22">
              <a:extLst>
                <a:ext uri="{FF2B5EF4-FFF2-40B4-BE49-F238E27FC236}">
                  <a16:creationId xmlns:a16="http://schemas.microsoft.com/office/drawing/2014/main" id="{1C8A0B3E-168C-3921-98AD-19A0A3A14F6A}"/>
                </a:ext>
              </a:extLst>
            </p:cNvPr>
            <p:cNvSpPr txBox="1"/>
            <p:nvPr/>
          </p:nvSpPr>
          <p:spPr>
            <a:xfrm>
              <a:off x="0" y="76200"/>
              <a:ext cx="1186500" cy="425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2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01" name="TextBox 44">
            <a:extLst>
              <a:ext uri="{FF2B5EF4-FFF2-40B4-BE49-F238E27FC236}">
                <a16:creationId xmlns:a16="http://schemas.microsoft.com/office/drawing/2014/main" id="{05623AE5-5AB5-BD45-8DFF-CB561BD6D87A}"/>
              </a:ext>
            </a:extLst>
          </p:cNvPr>
          <p:cNvSpPr txBox="1"/>
          <p:nvPr/>
        </p:nvSpPr>
        <p:spPr>
          <a:xfrm>
            <a:off x="13936118" y="3064093"/>
            <a:ext cx="908510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+mn-ea"/>
                <a:cs typeface="Helios Extended"/>
                <a:sym typeface="Helios Extended"/>
              </a:rPr>
              <a:t>03</a:t>
            </a:r>
          </a:p>
        </p:txBody>
      </p:sp>
      <p:sp>
        <p:nvSpPr>
          <p:cNvPr id="102" name="TextBox 50">
            <a:extLst>
              <a:ext uri="{FF2B5EF4-FFF2-40B4-BE49-F238E27FC236}">
                <a16:creationId xmlns:a16="http://schemas.microsoft.com/office/drawing/2014/main" id="{9B5C7DA6-9A2F-763C-EC2D-8981C7093E50}"/>
              </a:ext>
            </a:extLst>
          </p:cNvPr>
          <p:cNvSpPr txBox="1"/>
          <p:nvPr/>
        </p:nvSpPr>
        <p:spPr>
          <a:xfrm>
            <a:off x="11937348" y="3387924"/>
            <a:ext cx="490605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-4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cs typeface="Noto Sans Kr Semi-Bold"/>
                <a:sym typeface="Noto Sans Kr Semi-Bold"/>
              </a:rPr>
              <a:t>RAG</a:t>
            </a:r>
          </a:p>
        </p:txBody>
      </p:sp>
      <p:grpSp>
        <p:nvGrpSpPr>
          <p:cNvPr id="103" name="Group 20">
            <a:extLst>
              <a:ext uri="{FF2B5EF4-FFF2-40B4-BE49-F238E27FC236}">
                <a16:creationId xmlns:a16="http://schemas.microsoft.com/office/drawing/2014/main" id="{80EB949D-DC57-CFF7-CDBE-5F5F87212EAC}"/>
              </a:ext>
            </a:extLst>
          </p:cNvPr>
          <p:cNvGrpSpPr/>
          <p:nvPr/>
        </p:nvGrpSpPr>
        <p:grpSpPr>
          <a:xfrm>
            <a:off x="1251546" y="5895325"/>
            <a:ext cx="5080839" cy="2789222"/>
            <a:chOff x="0" y="0"/>
            <a:chExt cx="1186500" cy="502168"/>
          </a:xfrm>
        </p:grpSpPr>
        <p:sp>
          <p:nvSpPr>
            <p:cNvPr id="104" name="Freeform 21">
              <a:extLst>
                <a:ext uri="{FF2B5EF4-FFF2-40B4-BE49-F238E27FC236}">
                  <a16:creationId xmlns:a16="http://schemas.microsoft.com/office/drawing/2014/main" id="{5B51D245-7EDF-A995-74C7-D09B9F9A2E75}"/>
                </a:ext>
              </a:extLst>
            </p:cNvPr>
            <p:cNvSpPr/>
            <p:nvPr/>
          </p:nvSpPr>
          <p:spPr>
            <a:xfrm>
              <a:off x="0" y="0"/>
              <a:ext cx="1186500" cy="502168"/>
            </a:xfrm>
            <a:custGeom>
              <a:avLst/>
              <a:gdLst/>
              <a:ahLst/>
              <a:cxnLst/>
              <a:rect l="l" t="t" r="r" b="b"/>
              <a:pathLst>
                <a:path w="1186500" h="502168">
                  <a:moveTo>
                    <a:pt x="0" y="0"/>
                  </a:moveTo>
                  <a:lnTo>
                    <a:pt x="1186500" y="0"/>
                  </a:lnTo>
                  <a:lnTo>
                    <a:pt x="1186500" y="502168"/>
                  </a:lnTo>
                  <a:lnTo>
                    <a:pt x="0" y="5021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05" name="TextBox 22">
              <a:extLst>
                <a:ext uri="{FF2B5EF4-FFF2-40B4-BE49-F238E27FC236}">
                  <a16:creationId xmlns:a16="http://schemas.microsoft.com/office/drawing/2014/main" id="{C41E52AF-E1CB-64EE-EB8A-642C5EE8E707}"/>
                </a:ext>
              </a:extLst>
            </p:cNvPr>
            <p:cNvSpPr txBox="1"/>
            <p:nvPr/>
          </p:nvSpPr>
          <p:spPr>
            <a:xfrm>
              <a:off x="0" y="76200"/>
              <a:ext cx="1186500" cy="425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2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07" name="TextBox 44">
            <a:extLst>
              <a:ext uri="{FF2B5EF4-FFF2-40B4-BE49-F238E27FC236}">
                <a16:creationId xmlns:a16="http://schemas.microsoft.com/office/drawing/2014/main" id="{8DAA59AA-CD76-C1BA-985F-72D432B4713A}"/>
              </a:ext>
            </a:extLst>
          </p:cNvPr>
          <p:cNvSpPr txBox="1"/>
          <p:nvPr/>
        </p:nvSpPr>
        <p:spPr>
          <a:xfrm>
            <a:off x="3337330" y="6330518"/>
            <a:ext cx="908510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+mn-ea"/>
                <a:cs typeface="Helios Extended"/>
                <a:sym typeface="Helios Extended"/>
              </a:rPr>
              <a:t>04</a:t>
            </a:r>
          </a:p>
        </p:txBody>
      </p:sp>
      <p:sp>
        <p:nvSpPr>
          <p:cNvPr id="108" name="TextBox 50">
            <a:extLst>
              <a:ext uri="{FF2B5EF4-FFF2-40B4-BE49-F238E27FC236}">
                <a16:creationId xmlns:a16="http://schemas.microsoft.com/office/drawing/2014/main" id="{85F109B9-A599-2A75-4232-5CDDE2D17BDE}"/>
              </a:ext>
            </a:extLst>
          </p:cNvPr>
          <p:cNvSpPr txBox="1"/>
          <p:nvPr/>
        </p:nvSpPr>
        <p:spPr>
          <a:xfrm>
            <a:off x="1338560" y="6654349"/>
            <a:ext cx="490605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-4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cs typeface="Noto Sans Kr Semi-Bold"/>
                <a:sym typeface="Noto Sans Kr Semi-Bold"/>
              </a:rPr>
              <a:t>Voice Interface</a:t>
            </a:r>
          </a:p>
        </p:txBody>
      </p:sp>
      <p:grpSp>
        <p:nvGrpSpPr>
          <p:cNvPr id="109" name="Group 20">
            <a:extLst>
              <a:ext uri="{FF2B5EF4-FFF2-40B4-BE49-F238E27FC236}">
                <a16:creationId xmlns:a16="http://schemas.microsoft.com/office/drawing/2014/main" id="{ACD4258B-2428-C242-52B9-82D6E7866906}"/>
              </a:ext>
            </a:extLst>
          </p:cNvPr>
          <p:cNvGrpSpPr/>
          <p:nvPr/>
        </p:nvGrpSpPr>
        <p:grpSpPr>
          <a:xfrm>
            <a:off x="6540501" y="5898789"/>
            <a:ext cx="5080839" cy="2789222"/>
            <a:chOff x="0" y="0"/>
            <a:chExt cx="1186500" cy="502168"/>
          </a:xfrm>
        </p:grpSpPr>
        <p:sp>
          <p:nvSpPr>
            <p:cNvPr id="110" name="Freeform 21">
              <a:extLst>
                <a:ext uri="{FF2B5EF4-FFF2-40B4-BE49-F238E27FC236}">
                  <a16:creationId xmlns:a16="http://schemas.microsoft.com/office/drawing/2014/main" id="{11B44089-A7B2-3F85-911E-A55B2EBE9437}"/>
                </a:ext>
              </a:extLst>
            </p:cNvPr>
            <p:cNvSpPr/>
            <p:nvPr/>
          </p:nvSpPr>
          <p:spPr>
            <a:xfrm>
              <a:off x="0" y="0"/>
              <a:ext cx="1186500" cy="502168"/>
            </a:xfrm>
            <a:custGeom>
              <a:avLst/>
              <a:gdLst/>
              <a:ahLst/>
              <a:cxnLst/>
              <a:rect l="l" t="t" r="r" b="b"/>
              <a:pathLst>
                <a:path w="1186500" h="502168">
                  <a:moveTo>
                    <a:pt x="0" y="0"/>
                  </a:moveTo>
                  <a:lnTo>
                    <a:pt x="1186500" y="0"/>
                  </a:lnTo>
                  <a:lnTo>
                    <a:pt x="1186500" y="502168"/>
                  </a:lnTo>
                  <a:lnTo>
                    <a:pt x="0" y="5021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1" name="TextBox 22">
              <a:extLst>
                <a:ext uri="{FF2B5EF4-FFF2-40B4-BE49-F238E27FC236}">
                  <a16:creationId xmlns:a16="http://schemas.microsoft.com/office/drawing/2014/main" id="{1FFE79F7-ACAF-B7EB-675C-3A482B0117BB}"/>
                </a:ext>
              </a:extLst>
            </p:cNvPr>
            <p:cNvSpPr txBox="1"/>
            <p:nvPr/>
          </p:nvSpPr>
          <p:spPr>
            <a:xfrm>
              <a:off x="0" y="76200"/>
              <a:ext cx="1186500" cy="425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2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13" name="TextBox 44">
            <a:extLst>
              <a:ext uri="{FF2B5EF4-FFF2-40B4-BE49-F238E27FC236}">
                <a16:creationId xmlns:a16="http://schemas.microsoft.com/office/drawing/2014/main" id="{47B1D38B-516F-E963-D07E-1533CE95FDC0}"/>
              </a:ext>
            </a:extLst>
          </p:cNvPr>
          <p:cNvSpPr txBox="1"/>
          <p:nvPr/>
        </p:nvSpPr>
        <p:spPr>
          <a:xfrm>
            <a:off x="8626285" y="6333982"/>
            <a:ext cx="908510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+mn-ea"/>
                <a:cs typeface="Helios Extended"/>
                <a:sym typeface="Helios Extended"/>
              </a:rPr>
              <a:t>05</a:t>
            </a:r>
          </a:p>
        </p:txBody>
      </p:sp>
      <p:sp>
        <p:nvSpPr>
          <p:cNvPr id="114" name="TextBox 50">
            <a:extLst>
              <a:ext uri="{FF2B5EF4-FFF2-40B4-BE49-F238E27FC236}">
                <a16:creationId xmlns:a16="http://schemas.microsoft.com/office/drawing/2014/main" id="{DEC207E3-713F-0279-A160-F62CA35AEDD6}"/>
              </a:ext>
            </a:extLst>
          </p:cNvPr>
          <p:cNvSpPr txBox="1"/>
          <p:nvPr/>
        </p:nvSpPr>
        <p:spPr>
          <a:xfrm>
            <a:off x="6627515" y="6657813"/>
            <a:ext cx="490605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-4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cs typeface="Noto Sans Kr Semi-Bold"/>
                <a:sym typeface="Noto Sans Kr Semi-Bold"/>
              </a:rPr>
              <a:t>Backend &amp; Database</a:t>
            </a:r>
          </a:p>
        </p:txBody>
      </p:sp>
      <p:grpSp>
        <p:nvGrpSpPr>
          <p:cNvPr id="115" name="Group 20">
            <a:extLst>
              <a:ext uri="{FF2B5EF4-FFF2-40B4-BE49-F238E27FC236}">
                <a16:creationId xmlns:a16="http://schemas.microsoft.com/office/drawing/2014/main" id="{38463050-DC45-1725-4AA2-9F4CB2ADDFC3}"/>
              </a:ext>
            </a:extLst>
          </p:cNvPr>
          <p:cNvGrpSpPr/>
          <p:nvPr/>
        </p:nvGrpSpPr>
        <p:grpSpPr>
          <a:xfrm>
            <a:off x="11850334" y="5895325"/>
            <a:ext cx="5080839" cy="2789222"/>
            <a:chOff x="0" y="0"/>
            <a:chExt cx="1186500" cy="502168"/>
          </a:xfrm>
        </p:grpSpPr>
        <p:sp>
          <p:nvSpPr>
            <p:cNvPr id="116" name="Freeform 21">
              <a:extLst>
                <a:ext uri="{FF2B5EF4-FFF2-40B4-BE49-F238E27FC236}">
                  <a16:creationId xmlns:a16="http://schemas.microsoft.com/office/drawing/2014/main" id="{FC9991FF-A06F-E1CB-009E-A6124D72F237}"/>
                </a:ext>
              </a:extLst>
            </p:cNvPr>
            <p:cNvSpPr/>
            <p:nvPr/>
          </p:nvSpPr>
          <p:spPr>
            <a:xfrm>
              <a:off x="0" y="0"/>
              <a:ext cx="1186500" cy="502168"/>
            </a:xfrm>
            <a:custGeom>
              <a:avLst/>
              <a:gdLst/>
              <a:ahLst/>
              <a:cxnLst/>
              <a:rect l="l" t="t" r="r" b="b"/>
              <a:pathLst>
                <a:path w="1186500" h="502168">
                  <a:moveTo>
                    <a:pt x="0" y="0"/>
                  </a:moveTo>
                  <a:lnTo>
                    <a:pt x="1186500" y="0"/>
                  </a:lnTo>
                  <a:lnTo>
                    <a:pt x="1186500" y="502168"/>
                  </a:lnTo>
                  <a:lnTo>
                    <a:pt x="0" y="50216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C94A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7" name="TextBox 22">
              <a:extLst>
                <a:ext uri="{FF2B5EF4-FFF2-40B4-BE49-F238E27FC236}">
                  <a16:creationId xmlns:a16="http://schemas.microsoft.com/office/drawing/2014/main" id="{0DAF6A07-19F3-4972-8F36-C4AF49A3C816}"/>
                </a:ext>
              </a:extLst>
            </p:cNvPr>
            <p:cNvSpPr txBox="1"/>
            <p:nvPr/>
          </p:nvSpPr>
          <p:spPr>
            <a:xfrm>
              <a:off x="0" y="76200"/>
              <a:ext cx="1186500" cy="425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82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19" name="TextBox 44">
            <a:extLst>
              <a:ext uri="{FF2B5EF4-FFF2-40B4-BE49-F238E27FC236}">
                <a16:creationId xmlns:a16="http://schemas.microsoft.com/office/drawing/2014/main" id="{80380C00-608F-A695-DD3D-C7E7E3B68E38}"/>
              </a:ext>
            </a:extLst>
          </p:cNvPr>
          <p:cNvSpPr txBox="1"/>
          <p:nvPr/>
        </p:nvSpPr>
        <p:spPr>
          <a:xfrm>
            <a:off x="13936118" y="6330518"/>
            <a:ext cx="908510" cy="22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6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8A3D"/>
                </a:solidFill>
                <a:effectLst/>
                <a:uLnTx/>
                <a:uFillTx/>
                <a:latin typeface="+mn-ea"/>
                <a:cs typeface="Helios Extended"/>
                <a:sym typeface="Helios Extended"/>
              </a:rPr>
              <a:t>06</a:t>
            </a:r>
          </a:p>
        </p:txBody>
      </p:sp>
      <p:sp>
        <p:nvSpPr>
          <p:cNvPr id="120" name="TextBox 50">
            <a:extLst>
              <a:ext uri="{FF2B5EF4-FFF2-40B4-BE49-F238E27FC236}">
                <a16:creationId xmlns:a16="http://schemas.microsoft.com/office/drawing/2014/main" id="{10CD3279-D96D-8384-06A9-CBFC742E0BDB}"/>
              </a:ext>
            </a:extLst>
          </p:cNvPr>
          <p:cNvSpPr txBox="1"/>
          <p:nvPr/>
        </p:nvSpPr>
        <p:spPr>
          <a:xfrm>
            <a:off x="11937348" y="6654349"/>
            <a:ext cx="4906051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8" b="1" i="0" u="none" strike="noStrike" kern="1200" cap="none" spc="-4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cs typeface="Noto Sans Kr Semi-Bold"/>
                <a:sym typeface="Noto Sans Kr Semi-Bold"/>
              </a:rPr>
              <a:t>Collaboration</a:t>
            </a:r>
          </a:p>
        </p:txBody>
      </p:sp>
      <p:pic>
        <p:nvPicPr>
          <p:cNvPr id="121" name="그림 120" descr="DataScience 주요 Python 모듈">
            <a:extLst>
              <a:ext uri="{FF2B5EF4-FFF2-40B4-BE49-F238E27FC236}">
                <a16:creationId xmlns:a16="http://schemas.microsoft.com/office/drawing/2014/main" id="{6F07E0F0-9F19-3039-83AA-5BE7BEB97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433" y="4059564"/>
            <a:ext cx="1828800" cy="1028700"/>
          </a:xfrm>
          <a:prstGeom prst="rect">
            <a:avLst/>
          </a:prstGeom>
        </p:spPr>
      </p:pic>
      <p:pic>
        <p:nvPicPr>
          <p:cNvPr id="122" name="그림 121" descr="Streamlit] 스트림릿 시작하기">
            <a:extLst>
              <a:ext uri="{FF2B5EF4-FFF2-40B4-BE49-F238E27FC236}">
                <a16:creationId xmlns:a16="http://schemas.microsoft.com/office/drawing/2014/main" id="{BF22233F-E727-A74B-94C8-F191159FC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029" y="3988043"/>
            <a:ext cx="2002639" cy="1171649"/>
          </a:xfrm>
          <a:prstGeom prst="rect">
            <a:avLst/>
          </a:prstGeom>
        </p:spPr>
      </p:pic>
      <p:pic>
        <p:nvPicPr>
          <p:cNvPr id="126" name="그림 125" descr="gemma2-9b-it: Text-to-Text model — overview, use cases, alternatives">
            <a:extLst>
              <a:ext uri="{FF2B5EF4-FFF2-40B4-BE49-F238E27FC236}">
                <a16:creationId xmlns:a16="http://schemas.microsoft.com/office/drawing/2014/main" id="{5ED385F1-7EAA-ECA9-3C3D-FB498FEDE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677" y="3936646"/>
            <a:ext cx="1217720" cy="1150376"/>
          </a:xfrm>
          <a:prstGeom prst="rect">
            <a:avLst/>
          </a:prstGeom>
        </p:spPr>
      </p:pic>
      <p:pic>
        <p:nvPicPr>
          <p:cNvPr id="127" name="그림 126" descr="Ollama Logo PNG HD Download With Transparent Background | PNGHDPro">
            <a:extLst>
              <a:ext uri="{FF2B5EF4-FFF2-40B4-BE49-F238E27FC236}">
                <a16:creationId xmlns:a16="http://schemas.microsoft.com/office/drawing/2014/main" id="{897D734B-B8E4-4C76-F886-9F5040338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652" y="3349210"/>
            <a:ext cx="2181939" cy="2181939"/>
          </a:xfrm>
          <a:prstGeom prst="rect">
            <a:avLst/>
          </a:prstGeom>
        </p:spPr>
      </p:pic>
      <p:pic>
        <p:nvPicPr>
          <p:cNvPr id="133" name="그림 132" descr="LangChain + Chroma">
            <a:extLst>
              <a:ext uri="{FF2B5EF4-FFF2-40B4-BE49-F238E27FC236}">
                <a16:creationId xmlns:a16="http://schemas.microsoft.com/office/drawing/2014/main" id="{C7C7EB44-4F6C-BA67-2145-70DAE1231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9048" y="4026992"/>
            <a:ext cx="3111537" cy="1093752"/>
          </a:xfrm>
          <a:prstGeom prst="rect">
            <a:avLst/>
          </a:prstGeom>
        </p:spPr>
      </p:pic>
      <p:pic>
        <p:nvPicPr>
          <p:cNvPr id="136" name="그림 135" descr="HuggingFace Trainer로 모델 학습 및 평가하기">
            <a:extLst>
              <a:ext uri="{FF2B5EF4-FFF2-40B4-BE49-F238E27FC236}">
                <a16:creationId xmlns:a16="http://schemas.microsoft.com/office/drawing/2014/main" id="{D1776D91-F8DC-BAAA-D4E0-C96C109749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92583" y="4293099"/>
            <a:ext cx="1852011" cy="492331"/>
          </a:xfrm>
          <a:prstGeom prst="rect">
            <a:avLst/>
          </a:prstGeom>
        </p:spPr>
      </p:pic>
      <p:pic>
        <p:nvPicPr>
          <p:cNvPr id="137" name="그림 136" descr="TTS 반복기 - Google Play 앱">
            <a:extLst>
              <a:ext uri="{FF2B5EF4-FFF2-40B4-BE49-F238E27FC236}">
                <a16:creationId xmlns:a16="http://schemas.microsoft.com/office/drawing/2014/main" id="{576FD1AE-64BD-AFD9-512B-B7BAFD36BA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1437" y="7305805"/>
            <a:ext cx="998189" cy="998189"/>
          </a:xfrm>
          <a:prstGeom prst="rect">
            <a:avLst/>
          </a:prstGeom>
        </p:spPr>
      </p:pic>
      <p:pic>
        <p:nvPicPr>
          <p:cNvPr id="138" name="그림 137" descr="MariaDB(1)">
            <a:extLst>
              <a:ext uri="{FF2B5EF4-FFF2-40B4-BE49-F238E27FC236}">
                <a16:creationId xmlns:a16="http://schemas.microsoft.com/office/drawing/2014/main" id="{F128018E-0B08-5BF4-E370-3A0012D7D3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1800" y="7504814"/>
            <a:ext cx="1527689" cy="786311"/>
          </a:xfrm>
          <a:prstGeom prst="rect">
            <a:avLst/>
          </a:prstGeom>
        </p:spPr>
      </p:pic>
      <p:pic>
        <p:nvPicPr>
          <p:cNvPr id="139" name="그림 138" descr="FastAPI 파이썬으로 간단하게 웹 API 만들기">
            <a:extLst>
              <a:ext uri="{FF2B5EF4-FFF2-40B4-BE49-F238E27FC236}">
                <a16:creationId xmlns:a16="http://schemas.microsoft.com/office/drawing/2014/main" id="{C8A5D11D-F287-E763-93F5-8886EC8F5B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9110" y="7568032"/>
            <a:ext cx="1829403" cy="659873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2EB66051-C2F0-671D-166E-B18AFAE55F8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222" y="7174755"/>
            <a:ext cx="1375289" cy="1446425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75A1C5EC-E2FA-5459-C32A-355FC7C9CF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403" y="7032870"/>
            <a:ext cx="2789940" cy="1566723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28E32913-F75F-76D4-8FCC-ACCF5AD103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585" y="7088678"/>
            <a:ext cx="1372082" cy="1455106"/>
          </a:xfrm>
          <a:prstGeom prst="rect">
            <a:avLst/>
          </a:prstGeom>
        </p:spPr>
      </p:pic>
      <p:grpSp>
        <p:nvGrpSpPr>
          <p:cNvPr id="18" name="Group 15">
            <a:extLst>
              <a:ext uri="{FF2B5EF4-FFF2-40B4-BE49-F238E27FC236}">
                <a16:creationId xmlns:a16="http://schemas.microsoft.com/office/drawing/2014/main" id="{C6AD5F51-0DEE-519D-D2D6-DFD423DA77FD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6509BF9D-8A18-0D6F-DC7A-BB8AC48E036C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F3714569-EEEE-79E7-B675-F94E5E7D3CC5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1" name="TextBox 52">
            <a:extLst>
              <a:ext uri="{FF2B5EF4-FFF2-40B4-BE49-F238E27FC236}">
                <a16:creationId xmlns:a16="http://schemas.microsoft.com/office/drawing/2014/main" id="{E47B0082-5C41-A7CA-352F-4AA91BF83756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03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2A2FB-3BD4-A326-5822-42619000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7057C9-74FE-1CEE-57AC-E3B595E1492F}"/>
              </a:ext>
            </a:extLst>
          </p:cNvPr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021A15-CC12-4E95-7A40-D20B4E67B606}"/>
                </a:ext>
              </a:extLst>
            </p:cNvPr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C401F5F-56A4-16EA-83ED-F35C251748B7}"/>
                </a:ext>
              </a:extLst>
            </p:cNvPr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47AF923-922B-6B61-3D39-218F362F3F47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4C47C9-0EA9-7B38-FEE9-80D3CDF14307}"/>
              </a:ext>
            </a:extLst>
          </p:cNvPr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4768420-DC1F-5421-392D-4E4BD37C51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A914C04-0806-CD55-4708-05C8CE4EE801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E6D4ECF-5250-4544-4CCA-7F06D38A0E6C}"/>
              </a:ext>
            </a:extLst>
          </p:cNvPr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EF75711-A955-0815-9285-E47317F2535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0F8E68A-0FCF-58A0-95FB-E5DEB0CFC5E6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28BB680-61C1-EE7E-A72E-341D0CE59B15}"/>
              </a:ext>
            </a:extLst>
          </p:cNvPr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C8C1686-08B7-43F7-7DF2-E68F6480586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B735741-1151-3505-9EE8-55E7D629DEC7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8B4778E7-70CA-317C-E632-E63ED5FF924B}"/>
              </a:ext>
            </a:extLst>
          </p:cNvPr>
          <p:cNvSpPr txBox="1"/>
          <p:nvPr/>
        </p:nvSpPr>
        <p:spPr>
          <a:xfrm>
            <a:off x="1847179" y="790407"/>
            <a:ext cx="2646071" cy="49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10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-39" normalizeH="0" baseline="0" noProof="0" dirty="0" err="1">
                <a:ln>
                  <a:noFill/>
                </a:ln>
                <a:solidFill>
                  <a:srgbClr val="6A4A2F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기능</a:t>
            </a:r>
            <a:r>
              <a:rPr kumimoji="0" lang="en-US" sz="2600" b="1" i="0" u="none" strike="noStrike" kern="1200" cap="none" spc="-39" normalizeH="0" baseline="0" noProof="0" dirty="0">
                <a:ln>
                  <a:noFill/>
                </a:ln>
                <a:solidFill>
                  <a:srgbClr val="6A4A2F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kumimoji="0" lang="en-US" sz="2600" b="1" i="0" u="none" strike="noStrike" kern="1200" cap="none" spc="-39" normalizeH="0" baseline="0" noProof="0" dirty="0" err="1">
                <a:ln>
                  <a:noFill/>
                </a:ln>
                <a:solidFill>
                  <a:srgbClr val="6A4A2F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설계도</a:t>
            </a:r>
            <a:endParaRPr kumimoji="0" lang="en-US" sz="2600" b="1" i="0" u="none" strike="noStrike" kern="1200" cap="none" spc="-39" normalizeH="0" baseline="0" noProof="0" dirty="0">
              <a:ln>
                <a:noFill/>
              </a:ln>
              <a:solidFill>
                <a:srgbClr val="6A4A2F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04F2F1F-690C-A32D-4CA0-2365D6CEAAF8}"/>
              </a:ext>
            </a:extLst>
          </p:cNvPr>
          <p:cNvSpPr txBox="1"/>
          <p:nvPr/>
        </p:nvSpPr>
        <p:spPr>
          <a:xfrm>
            <a:off x="938961" y="830369"/>
            <a:ext cx="470068" cy="34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3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98" b="1" i="0" u="none" strike="noStrike" kern="1200" cap="none" spc="0" normalizeH="0" baseline="0" noProof="0" dirty="0">
                <a:ln>
                  <a:noFill/>
                </a:ln>
                <a:solidFill>
                  <a:srgbClr val="FDFDFB"/>
                </a:solidFill>
                <a:effectLst/>
                <a:uLnTx/>
                <a:uFillTx/>
                <a:latin typeface="+mn-ea"/>
                <a:cs typeface="Helios Extended Bold"/>
                <a:sym typeface="Helios Extended Bold"/>
              </a:rPr>
              <a:t>10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8C1AD92-658B-2D8F-C0A3-B10ECB9CD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391" y="2133848"/>
            <a:ext cx="13355218" cy="6632489"/>
          </a:xfrm>
          <a:prstGeom prst="rect">
            <a:avLst/>
          </a:prstGeom>
        </p:spPr>
      </p:pic>
      <p:grpSp>
        <p:nvGrpSpPr>
          <p:cNvPr id="18" name="Group 15">
            <a:extLst>
              <a:ext uri="{FF2B5EF4-FFF2-40B4-BE49-F238E27FC236}">
                <a16:creationId xmlns:a16="http://schemas.microsoft.com/office/drawing/2014/main" id="{3DE683AB-7725-59D6-29BC-CFFFF3A40772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41942E49-B9B3-DBC1-A658-8A9B3C00E9CC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B13DE0AA-68F5-1839-4E29-1951B891EB68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2" name="TextBox 52">
            <a:extLst>
              <a:ext uri="{FF2B5EF4-FFF2-40B4-BE49-F238E27FC236}">
                <a16:creationId xmlns:a16="http://schemas.microsoft.com/office/drawing/2014/main" id="{79AC186D-B8DF-1C7D-5554-4ABF0BD7C38D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018290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35C17-B3B4-A7BF-1F37-4CC610CA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35EC47-1010-03F4-734B-08A7C1936146}"/>
              </a:ext>
            </a:extLst>
          </p:cNvPr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E9EB97-D0DA-3B0C-AB60-EEED59578BE9}"/>
                </a:ext>
              </a:extLst>
            </p:cNvPr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E96CDFD-DB6E-AA63-D98F-5EABBAF62C41}"/>
                </a:ext>
              </a:extLst>
            </p:cNvPr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4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World돋움체 Light" panose="00000300000000000000" pitchFamily="2" charset="-127"/>
                <a:ea typeface="+mn-ea"/>
                <a:cs typeface="+mn-cs"/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40E0764-7C12-3D80-5869-5FC43577DC4F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32C6460-98A2-2B3B-9056-DE343DA0AA03}"/>
              </a:ext>
            </a:extLst>
          </p:cNvPr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8440C6-5DB3-8B14-D222-EF87B6E52F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F1A2A31-A799-644D-1600-AC407BE3EA20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6274D83-4BE0-9A11-863A-C1C561F763D8}"/>
              </a:ext>
            </a:extLst>
          </p:cNvPr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B95086F-F7F2-AFF8-D065-6584CEE7A5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A08C713-7714-1CA9-5D06-94D394CB9419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CE1D3DD-9B22-49EB-5A21-0CCFA2AB6B39}"/>
              </a:ext>
            </a:extLst>
          </p:cNvPr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229543E-B278-588B-AD6F-6F3CA94ED11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E499F82-3E9F-C538-963B-08122959B059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EBDBE215-280A-9823-0B77-61020426D9F0}"/>
              </a:ext>
            </a:extLst>
          </p:cNvPr>
          <p:cNvSpPr txBox="1"/>
          <p:nvPr/>
        </p:nvSpPr>
        <p:spPr>
          <a:xfrm>
            <a:off x="1847179" y="779168"/>
            <a:ext cx="3867821" cy="494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10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1200" cap="none" spc="-39" normalizeH="0" baseline="0" noProof="0" dirty="0">
                <a:ln>
                  <a:noFill/>
                </a:ln>
                <a:solidFill>
                  <a:srgbClr val="6A4A2F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웹페이지 시연 영상</a:t>
            </a:r>
            <a:endParaRPr kumimoji="0" lang="en-US" sz="2600" b="1" i="0" u="none" strike="noStrike" kern="1200" cap="none" spc="-39" normalizeH="0" baseline="0" noProof="0" dirty="0">
              <a:ln>
                <a:noFill/>
              </a:ln>
              <a:solidFill>
                <a:srgbClr val="6A4A2F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AB25F03-A526-16F2-570A-F1F1C89C1B03}"/>
              </a:ext>
            </a:extLst>
          </p:cNvPr>
          <p:cNvSpPr txBox="1"/>
          <p:nvPr/>
        </p:nvSpPr>
        <p:spPr>
          <a:xfrm>
            <a:off x="938961" y="830369"/>
            <a:ext cx="470068" cy="346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937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98" b="1" dirty="0">
                <a:solidFill>
                  <a:srgbClr val="FDFDFB"/>
                </a:solidFill>
                <a:latin typeface="+mn-ea"/>
                <a:cs typeface="Helios Extended Bold"/>
                <a:sym typeface="Helios Extended Bold"/>
              </a:rPr>
              <a:t>11</a:t>
            </a:r>
            <a:endParaRPr kumimoji="0" lang="en-US" sz="2098" b="1" i="0" u="none" strike="noStrike" kern="1200" cap="none" spc="0" normalizeH="0" baseline="0" noProof="0" dirty="0">
              <a:ln>
                <a:noFill/>
              </a:ln>
              <a:solidFill>
                <a:srgbClr val="FDFDFB"/>
              </a:solidFill>
              <a:effectLst/>
              <a:uLnTx/>
              <a:uFillTx/>
              <a:latin typeface="+mn-ea"/>
              <a:cs typeface="Helios Extended Bold"/>
              <a:sym typeface="Helios Extended Bold"/>
            </a:endParaRPr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id="{9F83CA08-ABDB-0888-9EA3-C60422E6A249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22F98A1C-1574-3A06-996F-EDEBA8CC3AB8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2E668A59-5D83-67BD-CCE0-3CF6740148D7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21" name="TextBox 52">
            <a:extLst>
              <a:ext uri="{FF2B5EF4-FFF2-40B4-BE49-F238E27FC236}">
                <a16:creationId xmlns:a16="http://schemas.microsoft.com/office/drawing/2014/main" id="{99D2AEC8-7F1C-DC88-A70F-2606BB1883B1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03</a:t>
            </a:r>
          </a:p>
        </p:txBody>
      </p:sp>
      <p:pic>
        <p:nvPicPr>
          <p:cNvPr id="15" name="KakaoTalk_20260630_153605033">
            <a:hlinkClick r:id="" action="ppaction://media"/>
            <a:extLst>
              <a:ext uri="{FF2B5EF4-FFF2-40B4-BE49-F238E27FC236}">
                <a16:creationId xmlns:a16="http://schemas.microsoft.com/office/drawing/2014/main" id="{95556EBC-3508-8D04-EBA8-1D22919AAF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28590" y="1633011"/>
            <a:ext cx="12630820" cy="792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7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084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DB010-DA3F-C94C-2117-FA865BFF0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2D92F93-D1BF-99D7-5A70-256CDF40B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4"/>
            <a:ext cx="18288000" cy="1028153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50B6078-6FC4-C0B2-0A16-B165305C2F25}"/>
              </a:ext>
            </a:extLst>
          </p:cNvPr>
          <p:cNvSpPr/>
          <p:nvPr/>
        </p:nvSpPr>
        <p:spPr>
          <a:xfrm>
            <a:off x="685800" y="571500"/>
            <a:ext cx="533400" cy="457200"/>
          </a:xfrm>
          <a:prstGeom prst="rect">
            <a:avLst/>
          </a:prstGeom>
          <a:solidFill>
            <a:srgbClr val="FDBC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39CEF-8145-9AEF-DD1E-CB3B27CE262D}"/>
              </a:ext>
            </a:extLst>
          </p:cNvPr>
          <p:cNvSpPr txBox="1"/>
          <p:nvPr/>
        </p:nvSpPr>
        <p:spPr>
          <a:xfrm>
            <a:off x="571500" y="643235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04</a:t>
            </a:r>
            <a:endParaRPr lang="ko-KR" altLang="en-US" sz="24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72477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6B9CE-545F-463B-A05C-424125586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75DC029-19E0-0DCE-0CE2-77FD0AF5C8CC}"/>
              </a:ext>
            </a:extLst>
          </p:cNvPr>
          <p:cNvSpPr/>
          <p:nvPr/>
        </p:nvSpPr>
        <p:spPr>
          <a:xfrm>
            <a:off x="630468" y="590348"/>
            <a:ext cx="17036589" cy="9094503"/>
          </a:xfrm>
          <a:custGeom>
            <a:avLst/>
            <a:gdLst/>
            <a:ahLst/>
            <a:cxnLst/>
            <a:rect l="l" t="t" r="r" b="b"/>
            <a:pathLst>
              <a:path w="5109002" h="2727296">
                <a:moveTo>
                  <a:pt x="0" y="0"/>
                </a:moveTo>
                <a:lnTo>
                  <a:pt x="5109002" y="0"/>
                </a:lnTo>
                <a:lnTo>
                  <a:pt x="5109002" y="2727296"/>
                </a:lnTo>
                <a:lnTo>
                  <a:pt x="0" y="2727296"/>
                </a:lnTo>
                <a:close/>
              </a:path>
            </a:pathLst>
          </a:custGeom>
          <a:solidFill>
            <a:srgbClr val="FEFBF6"/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84C551DE-6782-6D99-E931-0FD7D5DC73AB}"/>
              </a:ext>
            </a:extLst>
          </p:cNvPr>
          <p:cNvSpPr/>
          <p:nvPr/>
        </p:nvSpPr>
        <p:spPr>
          <a:xfrm>
            <a:off x="630468" y="148904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19" name="Group 6">
            <a:extLst>
              <a:ext uri="{FF2B5EF4-FFF2-40B4-BE49-F238E27FC236}">
                <a16:creationId xmlns:a16="http://schemas.microsoft.com/office/drawing/2014/main" id="{39F71390-E6CB-48EA-8016-869DB9CC0078}"/>
              </a:ext>
            </a:extLst>
          </p:cNvPr>
          <p:cNvGrpSpPr/>
          <p:nvPr/>
        </p:nvGrpSpPr>
        <p:grpSpPr>
          <a:xfrm>
            <a:off x="16381749" y="922658"/>
            <a:ext cx="212083" cy="212083"/>
            <a:chOff x="0" y="0"/>
            <a:chExt cx="812800" cy="812800"/>
          </a:xfrm>
        </p:grpSpPr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B40A89A8-2F16-CF30-0E6B-FE408DE5042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1" name="TextBox 8">
              <a:extLst>
                <a:ext uri="{FF2B5EF4-FFF2-40B4-BE49-F238E27FC236}">
                  <a16:creationId xmlns:a16="http://schemas.microsoft.com/office/drawing/2014/main" id="{8A7CFC5E-C659-E7EF-4F8B-92DDDFBCC163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22" name="Group 9">
            <a:extLst>
              <a:ext uri="{FF2B5EF4-FFF2-40B4-BE49-F238E27FC236}">
                <a16:creationId xmlns:a16="http://schemas.microsoft.com/office/drawing/2014/main" id="{0500C8F4-8348-2B10-7AD1-33AAF2E501D5}"/>
              </a:ext>
            </a:extLst>
          </p:cNvPr>
          <p:cNvGrpSpPr/>
          <p:nvPr/>
        </p:nvGrpSpPr>
        <p:grpSpPr>
          <a:xfrm>
            <a:off x="16670720" y="922658"/>
            <a:ext cx="212083" cy="212083"/>
            <a:chOff x="0" y="0"/>
            <a:chExt cx="812800" cy="812800"/>
          </a:xfrm>
        </p:grpSpPr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F2C6515A-FF9C-D1D7-AA01-97739E49A3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4" name="TextBox 11">
              <a:extLst>
                <a:ext uri="{FF2B5EF4-FFF2-40B4-BE49-F238E27FC236}">
                  <a16:creationId xmlns:a16="http://schemas.microsoft.com/office/drawing/2014/main" id="{3043007D-7CBB-1831-7742-11B73CF12B17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grpSp>
        <p:nvGrpSpPr>
          <p:cNvPr id="25" name="Group 12">
            <a:extLst>
              <a:ext uri="{FF2B5EF4-FFF2-40B4-BE49-F238E27FC236}">
                <a16:creationId xmlns:a16="http://schemas.microsoft.com/office/drawing/2014/main" id="{B891B097-70CC-19AD-0268-82BFEE449429}"/>
              </a:ext>
            </a:extLst>
          </p:cNvPr>
          <p:cNvGrpSpPr/>
          <p:nvPr/>
        </p:nvGrpSpPr>
        <p:grpSpPr>
          <a:xfrm>
            <a:off x="16959003" y="922658"/>
            <a:ext cx="212083" cy="212083"/>
            <a:chOff x="0" y="0"/>
            <a:chExt cx="812800" cy="812800"/>
          </a:xfrm>
        </p:grpSpPr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356A2669-D099-B737-D8A9-D792820FB4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F7A93D26-31D9-57D1-E20F-BA87619DC1CF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35" name="TextBox 38">
            <a:extLst>
              <a:ext uri="{FF2B5EF4-FFF2-40B4-BE49-F238E27FC236}">
                <a16:creationId xmlns:a16="http://schemas.microsoft.com/office/drawing/2014/main" id="{8E8D3701-655A-7628-3E0E-9A82E1EF042C}"/>
              </a:ext>
            </a:extLst>
          </p:cNvPr>
          <p:cNvSpPr txBox="1"/>
          <p:nvPr/>
        </p:nvSpPr>
        <p:spPr>
          <a:xfrm>
            <a:off x="1905184" y="780145"/>
            <a:ext cx="331149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2600" b="1" u="none" strike="noStrike" spc="-3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결론</a:t>
            </a:r>
            <a:r>
              <a:rPr lang="en-US" sz="2600" b="1" u="none" strike="noStrike" spc="-3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및 </a:t>
            </a:r>
            <a:r>
              <a:rPr lang="en-US" sz="2600" b="1" u="none" strike="noStrike" spc="-3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기대</a:t>
            </a:r>
            <a:r>
              <a:rPr lang="en-US" sz="2600" b="1" u="none" strike="noStrike" spc="-36" dirty="0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 </a:t>
            </a:r>
            <a:r>
              <a:rPr lang="en-US" sz="2600" b="1" u="none" strike="noStrike" spc="-36" dirty="0" err="1">
                <a:solidFill>
                  <a:srgbClr val="6A4A2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Noto Sans Kr Semi-Bold"/>
              </a:rPr>
              <a:t>효과</a:t>
            </a:r>
            <a:endParaRPr lang="en-US" sz="2600" b="1" u="none" strike="noStrike" spc="-36" dirty="0">
              <a:solidFill>
                <a:srgbClr val="6A4A2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  <a:sym typeface="Noto Sans Kr Semi-Bold"/>
            </a:endParaRPr>
          </a:p>
        </p:txBody>
      </p:sp>
      <p:sp>
        <p:nvSpPr>
          <p:cNvPr id="36" name="TextBox 39">
            <a:extLst>
              <a:ext uri="{FF2B5EF4-FFF2-40B4-BE49-F238E27FC236}">
                <a16:creationId xmlns:a16="http://schemas.microsoft.com/office/drawing/2014/main" id="{A676C5C3-D7E3-809E-F9B7-FCCEF0453CF7}"/>
              </a:ext>
            </a:extLst>
          </p:cNvPr>
          <p:cNvSpPr txBox="1"/>
          <p:nvPr/>
        </p:nvSpPr>
        <p:spPr>
          <a:xfrm>
            <a:off x="938961" y="830369"/>
            <a:ext cx="470068" cy="33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3"/>
              </a:lnSpc>
              <a:spcBef>
                <a:spcPct val="0"/>
              </a:spcBef>
            </a:pPr>
            <a:r>
              <a:rPr lang="en-US" sz="1966" b="1" dirty="0">
                <a:solidFill>
                  <a:srgbClr val="FDFDFB"/>
                </a:solidFill>
                <a:latin typeface="+mn-ea"/>
                <a:cs typeface="Helios Extended Bold"/>
                <a:sym typeface="Helios Extended Bold"/>
              </a:rPr>
              <a:t>13</a:t>
            </a: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B4118E8E-5AB9-373E-EE88-A2E53786CBA8}"/>
              </a:ext>
            </a:extLst>
          </p:cNvPr>
          <p:cNvGrpSpPr/>
          <p:nvPr/>
        </p:nvGrpSpPr>
        <p:grpSpPr>
          <a:xfrm>
            <a:off x="630468" y="590348"/>
            <a:ext cx="966223" cy="898700"/>
            <a:chOff x="0" y="0"/>
            <a:chExt cx="254479" cy="240323"/>
          </a:xfrm>
        </p:grpSpPr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5B4619EC-9BE4-1909-000D-155CD6CF5D4B}"/>
                </a:ext>
              </a:extLst>
            </p:cNvPr>
            <p:cNvSpPr/>
            <p:nvPr/>
          </p:nvSpPr>
          <p:spPr>
            <a:xfrm>
              <a:off x="0" y="0"/>
              <a:ext cx="254479" cy="240323"/>
            </a:xfrm>
            <a:custGeom>
              <a:avLst/>
              <a:gdLst/>
              <a:ahLst/>
              <a:cxnLst/>
              <a:rect l="l" t="t" r="r" b="b"/>
              <a:pathLst>
                <a:path w="254479" h="240323">
                  <a:moveTo>
                    <a:pt x="0" y="0"/>
                  </a:moveTo>
                  <a:lnTo>
                    <a:pt x="254479" y="0"/>
                  </a:lnTo>
                  <a:lnTo>
                    <a:pt x="254479" y="240323"/>
                  </a:lnTo>
                  <a:lnTo>
                    <a:pt x="0" y="240323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4C0041EB-9401-382B-23BB-7A2060553A15}"/>
                </a:ext>
              </a:extLst>
            </p:cNvPr>
            <p:cNvSpPr txBox="1"/>
            <p:nvPr/>
          </p:nvSpPr>
          <p:spPr>
            <a:xfrm>
              <a:off x="0" y="-85725"/>
              <a:ext cx="254479" cy="326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>
                <a:latin typeface="+mn-ea"/>
              </a:endParaRPr>
            </a:p>
          </p:txBody>
        </p:sp>
      </p:grpSp>
      <p:sp>
        <p:nvSpPr>
          <p:cNvPr id="8" name="TextBox 52">
            <a:extLst>
              <a:ext uri="{FF2B5EF4-FFF2-40B4-BE49-F238E27FC236}">
                <a16:creationId xmlns:a16="http://schemas.microsoft.com/office/drawing/2014/main" id="{BFF8CD37-6BFD-95E8-7B1E-86EDA41FBF09}"/>
              </a:ext>
            </a:extLst>
          </p:cNvPr>
          <p:cNvSpPr txBox="1"/>
          <p:nvPr/>
        </p:nvSpPr>
        <p:spPr>
          <a:xfrm>
            <a:off x="878545" y="855414"/>
            <a:ext cx="470068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7"/>
              </a:lnSpc>
              <a:spcBef>
                <a:spcPct val="0"/>
              </a:spcBef>
            </a:pPr>
            <a:r>
              <a:rPr lang="en-US" sz="2098" b="1" dirty="0">
                <a:solidFill>
                  <a:srgbClr val="FDFDFB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Helios Extended Bold"/>
              </a:rPr>
              <a:t>05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C53E41-4DB4-FD69-3AA7-49307AD60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13621" r="2500" b="5521"/>
          <a:stretch>
            <a:fillRect/>
          </a:stretch>
        </p:blipFill>
        <p:spPr>
          <a:xfrm>
            <a:off x="685230" y="1544201"/>
            <a:ext cx="16916970" cy="809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2785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E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468" y="590348"/>
            <a:ext cx="17036589" cy="9094502"/>
            <a:chOff x="0" y="0"/>
            <a:chExt cx="5109002" cy="27272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09002" cy="2727296"/>
            </a:xfrm>
            <a:custGeom>
              <a:avLst/>
              <a:gdLst/>
              <a:ahLst/>
              <a:cxnLst/>
              <a:rect l="l" t="t" r="r" b="b"/>
              <a:pathLst>
                <a:path w="5109002" h="2727296">
                  <a:moveTo>
                    <a:pt x="0" y="0"/>
                  </a:moveTo>
                  <a:lnTo>
                    <a:pt x="5109002" y="0"/>
                  </a:lnTo>
                  <a:lnTo>
                    <a:pt x="5109002" y="2727296"/>
                  </a:lnTo>
                  <a:lnTo>
                    <a:pt x="0" y="272729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5109002" cy="280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99"/>
                </a:lnSpc>
              </a:pPr>
              <a:endParaRPr dirty="0">
                <a:latin typeface="KoPubWorld돋움체 Light" panose="00000300000000000000" pitchFamily="2" charset="-127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630468" y="1393798"/>
            <a:ext cx="17036589" cy="0"/>
          </a:xfrm>
          <a:prstGeom prst="line">
            <a:avLst/>
          </a:prstGeom>
          <a:ln w="28575" cap="flat">
            <a:solidFill>
              <a:srgbClr val="6A4A2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381749" y="903452"/>
            <a:ext cx="212083" cy="21208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70720" y="903452"/>
            <a:ext cx="212083" cy="21208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59003" y="903452"/>
            <a:ext cx="212083" cy="2120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3207" y="886142"/>
            <a:ext cx="244433" cy="246703"/>
            <a:chOff x="0" y="0"/>
            <a:chExt cx="64377" cy="649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377" cy="64975"/>
            </a:xfrm>
            <a:custGeom>
              <a:avLst/>
              <a:gdLst/>
              <a:ahLst/>
              <a:cxnLst/>
              <a:rect l="l" t="t" r="r" b="b"/>
              <a:pathLst>
                <a:path w="64377" h="64975">
                  <a:moveTo>
                    <a:pt x="0" y="0"/>
                  </a:moveTo>
                  <a:lnTo>
                    <a:pt x="64377" y="0"/>
                  </a:lnTo>
                  <a:lnTo>
                    <a:pt x="64377" y="64975"/>
                  </a:lnTo>
                  <a:lnTo>
                    <a:pt x="0" y="64975"/>
                  </a:lnTo>
                  <a:close/>
                </a:path>
              </a:pathLst>
            </a:custGeom>
            <a:solidFill>
              <a:srgbClr val="FFC94A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4377" cy="150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87"/>
                </a:lnSpc>
              </a:pPr>
              <a:endParaRPr dirty="0">
                <a:latin typeface="KoPubWorld돋움체 Light" panose="00000300000000000000" pitchFamily="2" charset="-127"/>
                <a:ea typeface="KoPubWorld돋움체 Light" panose="00000300000000000000" pitchFamily="2" charset="-127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357094" y="3650510"/>
            <a:ext cx="5561112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4500" b="1" u="none" strike="noStrike" dirty="0">
                <a:solidFill>
                  <a:srgbClr val="FF8A3D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Helios Extended Bold"/>
                <a:sym typeface="Helios Extended Bold"/>
              </a:rPr>
              <a:t>Thank You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9180" y="5836390"/>
            <a:ext cx="210963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513"/>
              </a:lnSpc>
              <a:spcBef>
                <a:spcPct val="0"/>
              </a:spcBef>
            </a:pPr>
            <a:r>
              <a:rPr lang="en-US" sz="1889" b="1" u="none" strike="noStrike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Noto Sans Kr Semi-Bold"/>
                <a:sym typeface="Noto Sans Kr Semi-Bold"/>
              </a:rPr>
              <a:t>Q&amp;A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3671728" y="6345817"/>
            <a:ext cx="10931845" cy="0"/>
          </a:xfrm>
          <a:prstGeom prst="line">
            <a:avLst/>
          </a:prstGeom>
          <a:ln w="28575" cap="flat">
            <a:solidFill>
              <a:srgbClr val="FF8A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84138B7F-D9CA-8F93-CD09-20BAF4BDCDA0}"/>
              </a:ext>
            </a:extLst>
          </p:cNvPr>
          <p:cNvSpPr txBox="1"/>
          <p:nvPr/>
        </p:nvSpPr>
        <p:spPr>
          <a:xfrm>
            <a:off x="7294545" y="828992"/>
            <a:ext cx="378261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b="1" u="none" strike="noStrike" dirty="0">
                <a:solidFill>
                  <a:srgbClr val="6A4A2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Helios Extended Bold"/>
                <a:sym typeface="Helios Extended Bold"/>
              </a:rPr>
              <a:t>ARTIFICIAL INTELLIGENCE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453</Words>
  <Application>Microsoft Office PowerPoint</Application>
  <PresentationFormat>사용자 지정</PresentationFormat>
  <Paragraphs>125</Paragraphs>
  <Slides>13</Slides>
  <Notes>5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Wingdings</vt:lpstr>
      <vt:lpstr>KoPubWorld돋움체 Light</vt:lpstr>
      <vt:lpstr>KoPubWorld돋움체 Bold</vt:lpstr>
      <vt:lpstr>Arial</vt:lpstr>
      <vt:lpstr>HY견고딕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꼬치꼬치 AI 면접 코칭 13슬라이드</dc:title>
  <dc:creator>user</dc:creator>
  <cp:lastModifiedBy>User</cp:lastModifiedBy>
  <cp:revision>53</cp:revision>
  <dcterms:created xsi:type="dcterms:W3CDTF">2006-08-16T00:00:00Z</dcterms:created>
  <dcterms:modified xsi:type="dcterms:W3CDTF">2026-06-30T07:32:37Z</dcterms:modified>
  <dc:identifier>DAHNdyIllRU</dc:identifier>
</cp:coreProperties>
</file>